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3" r:id="rId6"/>
    <p:sldId id="266" r:id="rId7"/>
    <p:sldId id="267" r:id="rId8"/>
    <p:sldId id="268"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3476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Begrüßung. Unser Projekt: Wie hängen Regen und Grundwasser auf dem ehemaligen Flughafen Tegel zusammen – und warum ist das für die geplante Schwammstadt wichtig?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Unser Weg zum Thema: Zuerst hatten wir vier andere Themen, die aber nicht gut zu passenden Daten oder einer klaren Frage geführt haben. Dann haben wir zu Tegel recherchiert und sind auf das Schwammstadt-Projekt gestoßen. Durch die Summer School kannten wir den FUTR HUB – dort gibt es Grundwasserdaten von Messstellen auf dem Gelände, mit denen wir gut anfangen konnten.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Tegel ist relevant, weil hier auf 500 Hektar ehemaliger Flughafenfläche ein neuer Stadtteil entsteht. Im Schumacher Quartier sind über 5.000 Wohnungen für mehr als 10.000 Menschen geplant, nach dem Schwammstadt-Prinzip. Ein Flughafen musste Regen schnell loswerden – ein Stadtquartier soll ihn möglichst halten. Deshalb ist es spannend, heute den Zustand von Regen und Grundwasser zu messen.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Grundwasserdaten kamen vom FUTR HUB. Für den Regen wollten wir die DWD-Wetterstation Tegel nutzen – die Daten gibt es dort aber nur bis 2021. Deshalb haben wir den HYRAS-Datensatz des DWD genommen: ein tägliches Niederschlagsraster mit 1 km Auflösung, aus dem wir den Rasterpunkt Tegel verwenden. Dabei gab es doppelte Tage in zwei Versionen – wir haben konsequent die neuere Version v6-1 genommen. Außerdem haben wir uns auf die 8 Messstellen mit Koordinaten beschränkt und den Median verwendet, weil eine Messstelle extrem schwankt.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 zentrales Ergebnis unseres Projekts ist die Website. Sie erzählt die Geschichte von Tegel zuerst und zeigt dann Schritt für Schritt die Daten. Sie ist für Smartphones optimiert und für Schülerinnen und Schüler ab etwa 12 verständlich. Jede Zahl hat eine Quelle. Live-Demo: Datei tegel-scrollytelling-online.html im Browser öffnen (Internetverbindung nötig).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bisherigen Daten zeigen, dass starke Regenphasen in Tegel häufig mit einem späteren Anstieg des Grundwassers zusammenfallen. Gleichzeitig reagiert das Grundwasser nicht nach jedem Regen gleich. Deshalb wäre es sinnvoll, die Messungen über mehrere Jahre weiterzuführen.
Für zukünftige Untersuchungen könnten zusätzlich Daten zur Bodenbeschaffenheit, Verdunstung, Temperatur und zur Versickerung von Regenwasser einbezogen werden. Dadurch könnte man besser verstehen, warum das Grundwasser an manchen Tagen stärker reagiert als an anderen.
Für die weitere Entwicklung des ehemaligen Flughafengeländes Tegel könnten solche langfristigen Messungen besonders hilfreich sein. Sie könnten zeigen, wie sich neue Grünflächen, Gebäude und Maßnahmen zur Regenwasserversickerung auf den Wasserhaushalt auswirken.
Die zentrale Frage für die Zukunft lautet deshalb: Wie kann Regenwasser in Tegel so genutzt und gespeichert werden, dass es sowohl bei Starkregen als auch in trockenen Zeiten zu einem möglichst ausgeglichenen Wasserhaushalt beiträgt?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Zum Schluss unsere zentrale Frage: Was passiert in Zukunft mit jedem Regentropfen, der auf Tegel fällt? Die Daten von heute helfen, das später zu beantworten. Vielen Dank – wir freuen uns auf Fragen.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Quellenübersicht für Rückfragen.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hyperlink" Target="tegel-scrollytelling-online.html" TargetMode="Externa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C:/Users/huyenp/Desktop/01 Huyen/02 Schulungen/01 University/02 HTW/Bigdata/final/tegel-scrollytelling/img/hero-2019.jpg"/>
          <p:cNvPicPr>
            <a:picLocks noChangeAspect="1"/>
          </p:cNvPicPr>
          <p:nvPr/>
        </p:nvPicPr>
        <p:blipFill>
          <a:blip r:embed="rId3"/>
          <a:srcRect/>
          <a:stretch/>
        </p:blipFill>
        <p:spPr>
          <a:xfrm>
            <a:off x="6400800" y="0"/>
            <a:ext cx="5788152" cy="6858000"/>
          </a:xfrm>
          <a:prstGeom prst="rect">
            <a:avLst/>
          </a:prstGeom>
        </p:spPr>
      </p:pic>
      <p:sp>
        <p:nvSpPr>
          <p:cNvPr id="3" name="Text 0"/>
          <p:cNvSpPr txBox="1"/>
          <p:nvPr/>
        </p:nvSpPr>
        <p:spPr>
          <a:xfrm>
            <a:off x="6583680" y="6492240"/>
            <a:ext cx="5394960" cy="228600"/>
          </a:xfrm>
          <a:prstGeom prst="rect">
            <a:avLst/>
          </a:prstGeom>
          <a:noFill/>
          <a:ln/>
        </p:spPr>
        <p:txBody>
          <a:bodyPr wrap="square" lIns="0" tIns="0" rIns="0" bIns="0" rtlCol="0" anchor="t"/>
          <a:lstStyle/>
          <a:p>
            <a:pPr marL="0" indent="0">
              <a:buNone/>
            </a:pPr>
            <a:r>
              <a:rPr lang="en-US" sz="900" dirty="0">
                <a:solidFill>
                  <a:srgbClr val="FFFFFF"/>
                </a:solidFill>
                <a:latin typeface="Calibri" pitchFamily="34" charset="0"/>
                <a:ea typeface="Calibri" pitchFamily="34" charset="-122"/>
                <a:cs typeface="Calibri" pitchFamily="34" charset="-120"/>
              </a:rPr>
              <a:t>Foto: Rehman Abubakr, 2019, Wikimedia Commons, CC BY-SA 4.0</a:t>
            </a:r>
            <a:endParaRPr lang="en-US" sz="900" dirty="0"/>
          </a:p>
        </p:txBody>
      </p:sp>
      <p:sp>
        <p:nvSpPr>
          <p:cNvPr id="4" name="Text 1"/>
          <p:cNvSpPr txBox="1"/>
          <p:nvPr/>
        </p:nvSpPr>
        <p:spPr>
          <a:xfrm>
            <a:off x="0" y="410618"/>
            <a:ext cx="6400800" cy="274320"/>
          </a:xfrm>
          <a:prstGeom prst="rect">
            <a:avLst/>
          </a:prstGeom>
          <a:noFill/>
          <a:ln/>
        </p:spPr>
        <p:txBody>
          <a:bodyPr wrap="square" lIns="0" tIns="0" rIns="0" bIns="0" rtlCol="0" anchor="t"/>
          <a:lstStyle/>
          <a:p>
            <a:pPr marL="0" indent="0" algn="ctr">
              <a:buNone/>
            </a:pPr>
            <a:r>
              <a:rPr lang="en-US" sz="1200" b="1" kern="0" spc="300" dirty="0">
                <a:solidFill>
                  <a:srgbClr val="0092D5"/>
                </a:solidFill>
                <a:latin typeface="Calibri" pitchFamily="34" charset="0"/>
                <a:ea typeface="Calibri" pitchFamily="34" charset="-122"/>
                <a:cs typeface="Calibri" pitchFamily="34" charset="-120"/>
              </a:rPr>
              <a:t>BERLIN-TEGEL · REGEN &amp; GRUNDWASSER · 2025–2026</a:t>
            </a:r>
            <a:endParaRPr lang="en-US" sz="1200" dirty="0"/>
          </a:p>
        </p:txBody>
      </p:sp>
      <p:sp>
        <p:nvSpPr>
          <p:cNvPr id="5" name="Text 2"/>
          <p:cNvSpPr txBox="1"/>
          <p:nvPr/>
        </p:nvSpPr>
        <p:spPr>
          <a:xfrm>
            <a:off x="1381759" y="3346186"/>
            <a:ext cx="6400799" cy="2011680"/>
          </a:xfrm>
          <a:prstGeom prst="rect">
            <a:avLst/>
          </a:prstGeom>
          <a:noFill/>
          <a:ln/>
        </p:spPr>
        <p:txBody>
          <a:bodyPr wrap="square" lIns="0" tIns="0" rIns="0" bIns="0" rtlCol="0" anchor="t"/>
          <a:lstStyle/>
          <a:p>
            <a:pPr marL="0" indent="0" algn="ctr">
              <a:buNone/>
            </a:pPr>
            <a:r>
              <a:rPr lang="en-US" sz="4600" b="1" dirty="0">
                <a:solidFill>
                  <a:srgbClr val="15191C"/>
                </a:solidFill>
                <a:latin typeface="Arial" pitchFamily="34" charset="0"/>
                <a:ea typeface="Arial" pitchFamily="34" charset="-122"/>
                <a:cs typeface="Arial" pitchFamily="34" charset="-120"/>
              </a:rPr>
              <a:t>Vom Rollfeld zur Schwammstadt</a:t>
            </a:r>
            <a:endParaRPr lang="en-US" sz="4600" dirty="0"/>
          </a:p>
        </p:txBody>
      </p:sp>
      <p:sp>
        <p:nvSpPr>
          <p:cNvPr id="6" name="Text 3"/>
          <p:cNvSpPr txBox="1"/>
          <p:nvPr/>
        </p:nvSpPr>
        <p:spPr>
          <a:xfrm>
            <a:off x="701040" y="3511815"/>
            <a:ext cx="5394960" cy="914400"/>
          </a:xfrm>
          <a:prstGeom prst="rect">
            <a:avLst/>
          </a:prstGeom>
          <a:noFill/>
          <a:ln/>
        </p:spPr>
        <p:txBody>
          <a:bodyPr wrap="square" lIns="0" tIns="0" rIns="0" bIns="0" rtlCol="0" anchor="t"/>
          <a:lstStyle/>
          <a:p>
            <a:pPr marL="0" indent="0">
              <a:buNone/>
            </a:pPr>
            <a:r>
              <a:rPr lang="en-US" sz="2200" dirty="0">
                <a:solidFill>
                  <a:srgbClr val="3D4750"/>
                </a:solidFill>
                <a:latin typeface="Calibri" pitchFamily="34" charset="0"/>
                <a:ea typeface="Calibri" pitchFamily="34" charset="-122"/>
                <a:cs typeface="Calibri" pitchFamily="34" charset="-120"/>
              </a:rPr>
              <a:t>Was Regen und Grundwasser über die Zukunft von Berlin-Tegel erzählen</a:t>
            </a:r>
            <a:endParaRPr lang="en-US" sz="2200" dirty="0"/>
          </a:p>
        </p:txBody>
      </p:sp>
      <p:grpSp>
        <p:nvGrpSpPr>
          <p:cNvPr id="9" name="Gruppieren 8">
            <a:extLst>
              <a:ext uri="{FF2B5EF4-FFF2-40B4-BE49-F238E27FC236}">
                <a16:creationId xmlns:a16="http://schemas.microsoft.com/office/drawing/2014/main" id="{30469DF1-1550-B600-21A0-9F889FEC600B}"/>
              </a:ext>
            </a:extLst>
          </p:cNvPr>
          <p:cNvGrpSpPr/>
          <p:nvPr/>
        </p:nvGrpSpPr>
        <p:grpSpPr>
          <a:xfrm>
            <a:off x="1295400" y="5570939"/>
            <a:ext cx="4206240" cy="457200"/>
            <a:chOff x="548640" y="5257800"/>
            <a:chExt cx="4206240" cy="457200"/>
          </a:xfrm>
        </p:grpSpPr>
        <p:sp>
          <p:nvSpPr>
            <p:cNvPr id="7" name="Shape 4"/>
            <p:cNvSpPr/>
            <p:nvPr/>
          </p:nvSpPr>
          <p:spPr>
            <a:xfrm>
              <a:off x="548640" y="5257800"/>
              <a:ext cx="4206240" cy="457200"/>
            </a:xfrm>
            <a:prstGeom prst="roundRect">
              <a:avLst>
                <a:gd name="adj" fmla="val 50000"/>
              </a:avLst>
            </a:prstGeom>
            <a:solidFill>
              <a:srgbClr val="9FD6EF"/>
            </a:solidFill>
            <a:ln w="12700">
              <a:solidFill>
                <a:srgbClr val="9FD6EF"/>
              </a:solidFill>
              <a:prstDash val="solid"/>
            </a:ln>
          </p:spPr>
          <p:txBody>
            <a:bodyPr/>
            <a:lstStyle/>
            <a:p>
              <a:endParaRPr lang="de-DE"/>
            </a:p>
          </p:txBody>
        </p:sp>
        <p:sp>
          <p:nvSpPr>
            <p:cNvPr id="8" name="Text 5"/>
            <p:cNvSpPr txBox="1"/>
            <p:nvPr/>
          </p:nvSpPr>
          <p:spPr>
            <a:xfrm>
              <a:off x="548640" y="5257800"/>
              <a:ext cx="4206240" cy="457200"/>
            </a:xfrm>
            <a:prstGeom prst="rect">
              <a:avLst/>
            </a:prstGeom>
            <a:noFill/>
            <a:ln/>
          </p:spPr>
          <p:txBody>
            <a:bodyPr wrap="square" lIns="0" tIns="0" rIns="0" bIns="0" rtlCol="0" anchor="ctr"/>
            <a:lstStyle/>
            <a:p>
              <a:pPr marL="0" indent="0" algn="ctr">
                <a:buNone/>
              </a:pPr>
              <a:r>
                <a:rPr lang="en-US" sz="1400" b="1" dirty="0">
                  <a:solidFill>
                    <a:srgbClr val="15191C"/>
                  </a:solidFill>
                  <a:latin typeface="Calibri" pitchFamily="34" charset="0"/>
                  <a:ea typeface="Calibri" pitchFamily="34" charset="-122"/>
                  <a:cs typeface="Calibri" pitchFamily="34" charset="-120"/>
                </a:rPr>
                <a:t>HTW Berlin · Big Data · </a:t>
              </a:r>
              <a:r>
                <a:rPr lang="en-US" sz="1400" b="1" dirty="0" err="1">
                  <a:solidFill>
                    <a:srgbClr val="15191C"/>
                  </a:solidFill>
                  <a:latin typeface="Calibri" pitchFamily="34" charset="0"/>
                  <a:ea typeface="Calibri" pitchFamily="34" charset="-122"/>
                  <a:cs typeface="Calibri" pitchFamily="34" charset="-120"/>
                </a:rPr>
                <a:t>Projektpräsentation</a:t>
              </a:r>
              <a:br>
                <a:rPr lang="en-US" sz="1400" b="1" dirty="0">
                  <a:solidFill>
                    <a:srgbClr val="15191C"/>
                  </a:solidFill>
                  <a:latin typeface="Calibri" pitchFamily="34" charset="0"/>
                  <a:ea typeface="Calibri" pitchFamily="34" charset="-122"/>
                  <a:cs typeface="Calibri" pitchFamily="34" charset="-120"/>
                </a:rPr>
              </a:br>
              <a:r>
                <a:rPr lang="en-US" sz="1400" b="1" dirty="0">
                  <a:solidFill>
                    <a:srgbClr val="15191C"/>
                  </a:solidFill>
                  <a:latin typeface="Calibri" pitchFamily="34" charset="0"/>
                  <a:ea typeface="Calibri" pitchFamily="34" charset="-122"/>
                  <a:cs typeface="Calibri" pitchFamily="34" charset="-120"/>
                </a:rPr>
                <a:t>Team: Data in motion</a:t>
              </a:r>
              <a:endParaRPr lang="en-US" sz="1400"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marL="0" indent="0">
              <a:buNone/>
            </a:pPr>
            <a:r>
              <a:rPr lang="en-US" sz="1200" b="1" kern="0" spc="300" dirty="0">
                <a:solidFill>
                  <a:srgbClr val="5E6A74"/>
                </a:solidFill>
                <a:latin typeface="Calibri" pitchFamily="34" charset="0"/>
                <a:ea typeface="Calibri" pitchFamily="34" charset="-122"/>
                <a:cs typeface="Calibri" pitchFamily="34" charset="-120"/>
              </a:rPr>
              <a:t>WIE WIR ZUM THEMA KAMEN</a:t>
            </a:r>
            <a:endParaRPr lang="en-US" sz="12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marL="0" indent="0">
              <a:buNone/>
            </a:pPr>
            <a:r>
              <a:rPr lang="en-US" sz="3400" b="1" dirty="0">
                <a:solidFill>
                  <a:srgbClr val="15191C"/>
                </a:solidFill>
                <a:latin typeface="Arial" pitchFamily="34" charset="0"/>
                <a:ea typeface="Arial" pitchFamily="34" charset="-122"/>
                <a:cs typeface="Arial" pitchFamily="34" charset="-120"/>
              </a:rPr>
              <a:t>Vier Ideen verworfen – </a:t>
            </a:r>
            <a:r>
              <a:rPr lang="en-US" sz="3400" b="1" dirty="0" err="1">
                <a:solidFill>
                  <a:srgbClr val="15191C"/>
                </a:solidFill>
                <a:latin typeface="Arial" pitchFamily="34" charset="0"/>
                <a:ea typeface="Arial" pitchFamily="34" charset="-122"/>
                <a:cs typeface="Arial" pitchFamily="34" charset="-120"/>
              </a:rPr>
              <a:t>beim</a:t>
            </a:r>
            <a:r>
              <a:rPr lang="en-US" sz="3400" b="1" dirty="0">
                <a:solidFill>
                  <a:srgbClr val="15191C"/>
                </a:solidFill>
                <a:latin typeface="Arial" pitchFamily="34" charset="0"/>
                <a:ea typeface="Arial" pitchFamily="34" charset="-122"/>
                <a:cs typeface="Arial" pitchFamily="34" charset="-120"/>
              </a:rPr>
              <a:t> </a:t>
            </a:r>
            <a:r>
              <a:rPr lang="en-US" sz="3400" b="1" dirty="0" err="1">
                <a:solidFill>
                  <a:srgbClr val="15191C"/>
                </a:solidFill>
                <a:latin typeface="Arial" pitchFamily="34" charset="0"/>
                <a:ea typeface="Arial" pitchFamily="34" charset="-122"/>
                <a:cs typeface="Arial" pitchFamily="34" charset="-120"/>
              </a:rPr>
              <a:t>Grundwasser</a:t>
            </a:r>
            <a:r>
              <a:rPr lang="en-US" sz="3400" b="1" dirty="0">
                <a:solidFill>
                  <a:srgbClr val="15191C"/>
                </a:solidFill>
                <a:latin typeface="Arial" pitchFamily="34" charset="0"/>
                <a:ea typeface="Arial" pitchFamily="34" charset="-122"/>
                <a:cs typeface="Arial" pitchFamily="34" charset="-120"/>
              </a:rPr>
              <a:t> </a:t>
            </a:r>
            <a:r>
              <a:rPr lang="en-US" sz="3400" b="1" dirty="0" err="1">
                <a:solidFill>
                  <a:srgbClr val="15191C"/>
                </a:solidFill>
                <a:latin typeface="Arial" pitchFamily="34" charset="0"/>
                <a:ea typeface="Arial" pitchFamily="34" charset="-122"/>
                <a:cs typeface="Arial" pitchFamily="34" charset="-120"/>
              </a:rPr>
              <a:t>geblieben</a:t>
            </a:r>
            <a:endParaRPr lang="en-US" sz="3400" dirty="0"/>
          </a:p>
        </p:txBody>
      </p:sp>
      <p:grpSp>
        <p:nvGrpSpPr>
          <p:cNvPr id="31" name="Gruppieren 30">
            <a:extLst>
              <a:ext uri="{FF2B5EF4-FFF2-40B4-BE49-F238E27FC236}">
                <a16:creationId xmlns:a16="http://schemas.microsoft.com/office/drawing/2014/main" id="{E2C103BA-62C8-5FD2-032D-D272605D0612}"/>
              </a:ext>
            </a:extLst>
          </p:cNvPr>
          <p:cNvGrpSpPr/>
          <p:nvPr/>
        </p:nvGrpSpPr>
        <p:grpSpPr>
          <a:xfrm>
            <a:off x="608076" y="1737360"/>
            <a:ext cx="10972800" cy="2651760"/>
            <a:chOff x="548640" y="2011680"/>
            <a:chExt cx="10972800" cy="2651760"/>
          </a:xfrm>
        </p:grpSpPr>
        <p:sp>
          <p:nvSpPr>
            <p:cNvPr id="4" name="Shape 2"/>
            <p:cNvSpPr/>
            <p:nvPr/>
          </p:nvSpPr>
          <p:spPr>
            <a:xfrm>
              <a:off x="548640" y="2011680"/>
              <a:ext cx="2606040" cy="2651760"/>
            </a:xfrm>
            <a:prstGeom prst="roundRect">
              <a:avLst>
                <a:gd name="adj" fmla="val 4211"/>
              </a:avLst>
            </a:prstGeom>
            <a:solidFill>
              <a:srgbClr val="EAF6FC"/>
            </a:solidFill>
            <a:ln w="12700">
              <a:solidFill>
                <a:srgbClr val="EAF6FC"/>
              </a:solidFill>
              <a:prstDash val="solid"/>
            </a:ln>
          </p:spPr>
          <p:txBody>
            <a:bodyPr/>
            <a:lstStyle/>
            <a:p>
              <a:endParaRPr lang="de-DE"/>
            </a:p>
          </p:txBody>
        </p:sp>
        <p:sp>
          <p:nvSpPr>
            <p:cNvPr id="5" name="Shape 3"/>
            <p:cNvSpPr/>
            <p:nvPr/>
          </p:nvSpPr>
          <p:spPr>
            <a:xfrm>
              <a:off x="822960" y="2286000"/>
              <a:ext cx="548640" cy="548640"/>
            </a:xfrm>
            <a:prstGeom prst="ellipse">
              <a:avLst/>
            </a:prstGeom>
            <a:solidFill>
              <a:srgbClr val="0092D5"/>
            </a:solidFill>
            <a:ln w="12700">
              <a:solidFill>
                <a:srgbClr val="0092D5"/>
              </a:solidFill>
              <a:prstDash val="solid"/>
            </a:ln>
          </p:spPr>
          <p:txBody>
            <a:bodyPr/>
            <a:lstStyle/>
            <a:p>
              <a:endParaRPr lang="de-DE"/>
            </a:p>
          </p:txBody>
        </p:sp>
        <p:sp>
          <p:nvSpPr>
            <p:cNvPr id="6" name="Text 4"/>
            <p:cNvSpPr txBox="1"/>
            <p:nvPr/>
          </p:nvSpPr>
          <p:spPr>
            <a:xfrm>
              <a:off x="822960" y="228600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822960" y="2971800"/>
              <a:ext cx="2148840" cy="411480"/>
            </a:xfrm>
            <a:prstGeom prst="rect">
              <a:avLst/>
            </a:prstGeom>
            <a:noFill/>
            <a:ln/>
          </p:spPr>
          <p:txBody>
            <a:bodyPr wrap="square" lIns="0" tIns="0" rIns="0" bIns="0" rtlCol="0" anchor="t"/>
            <a:lstStyle/>
            <a:p>
              <a:pPr marL="0" indent="0">
                <a:buNone/>
              </a:pPr>
              <a:r>
                <a:rPr lang="en-US" sz="1600" b="1" dirty="0">
                  <a:solidFill>
                    <a:srgbClr val="0092D5"/>
                  </a:solidFill>
                  <a:latin typeface="Arial" pitchFamily="34" charset="0"/>
                  <a:ea typeface="Arial" pitchFamily="34" charset="-122"/>
                  <a:cs typeface="Arial" pitchFamily="34" charset="-120"/>
                </a:rPr>
                <a:t>Vier Themen</a:t>
              </a:r>
              <a:endParaRPr lang="en-US" sz="1600" dirty="0"/>
            </a:p>
          </p:txBody>
        </p:sp>
        <p:sp>
          <p:nvSpPr>
            <p:cNvPr id="8" name="Text 6"/>
            <p:cNvSpPr txBox="1"/>
            <p:nvPr/>
          </p:nvSpPr>
          <p:spPr>
            <a:xfrm>
              <a:off x="822960" y="3429000"/>
              <a:ext cx="2057400" cy="1143000"/>
            </a:xfrm>
            <a:prstGeom prst="rect">
              <a:avLst/>
            </a:prstGeom>
            <a:noFill/>
            <a:ln/>
          </p:spPr>
          <p:txBody>
            <a:bodyPr wrap="square" lIns="0" tIns="0" rIns="0" bIns="0" rtlCol="0" anchor="t"/>
            <a:lstStyle/>
            <a:p>
              <a:pPr marL="0" indent="0">
                <a:buNone/>
              </a:pPr>
              <a:r>
                <a:rPr lang="en-US" sz="1400" dirty="0">
                  <a:solidFill>
                    <a:srgbClr val="3D4750"/>
                  </a:solidFill>
                  <a:latin typeface="Calibri" pitchFamily="34" charset="0"/>
                  <a:ea typeface="Calibri" pitchFamily="34" charset="-122"/>
                  <a:cs typeface="Calibri" pitchFamily="34" charset="-120"/>
                </a:rPr>
                <a:t>Wir hatten zuerst vier verschiedene Themen. Keines passte wirklich zu Daten und Fragestellung.</a:t>
              </a:r>
              <a:endParaRPr lang="en-US" sz="1400" dirty="0"/>
            </a:p>
          </p:txBody>
        </p:sp>
        <p:sp>
          <p:nvSpPr>
            <p:cNvPr id="9" name="Text 7"/>
            <p:cNvSpPr txBox="1"/>
            <p:nvPr/>
          </p:nvSpPr>
          <p:spPr>
            <a:xfrm>
              <a:off x="3136392" y="3108960"/>
              <a:ext cx="219456" cy="365760"/>
            </a:xfrm>
            <a:prstGeom prst="rect">
              <a:avLst/>
            </a:prstGeom>
            <a:noFill/>
            <a:ln/>
          </p:spPr>
          <p:txBody>
            <a:bodyPr wrap="square" lIns="0" tIns="0" rIns="0" bIns="0" rtlCol="0" anchor="t"/>
            <a:lstStyle/>
            <a:p>
              <a:pPr marL="0" indent="0" algn="ctr">
                <a:buNone/>
              </a:pPr>
              <a:r>
                <a:rPr lang="en-US" sz="1800" dirty="0">
                  <a:solidFill>
                    <a:srgbClr val="5E6A74"/>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3337560" y="2011680"/>
              <a:ext cx="2606040" cy="2651760"/>
            </a:xfrm>
            <a:prstGeom prst="roundRect">
              <a:avLst>
                <a:gd name="adj" fmla="val 4211"/>
              </a:avLst>
            </a:prstGeom>
            <a:solidFill>
              <a:srgbClr val="EAF6FC"/>
            </a:solidFill>
            <a:ln w="12700">
              <a:solidFill>
                <a:srgbClr val="EAF6FC"/>
              </a:solidFill>
              <a:prstDash val="solid"/>
            </a:ln>
          </p:spPr>
          <p:txBody>
            <a:bodyPr/>
            <a:lstStyle/>
            <a:p>
              <a:endParaRPr lang="de-DE"/>
            </a:p>
          </p:txBody>
        </p:sp>
        <p:sp>
          <p:nvSpPr>
            <p:cNvPr id="11" name="Shape 9"/>
            <p:cNvSpPr/>
            <p:nvPr/>
          </p:nvSpPr>
          <p:spPr>
            <a:xfrm>
              <a:off x="3611880" y="2286000"/>
              <a:ext cx="548640" cy="548640"/>
            </a:xfrm>
            <a:prstGeom prst="ellipse">
              <a:avLst/>
            </a:prstGeom>
            <a:solidFill>
              <a:srgbClr val="0092D5"/>
            </a:solidFill>
            <a:ln w="12700">
              <a:solidFill>
                <a:srgbClr val="0092D5"/>
              </a:solidFill>
              <a:prstDash val="solid"/>
            </a:ln>
          </p:spPr>
          <p:txBody>
            <a:bodyPr/>
            <a:lstStyle/>
            <a:p>
              <a:endParaRPr lang="de-DE"/>
            </a:p>
          </p:txBody>
        </p:sp>
        <p:sp>
          <p:nvSpPr>
            <p:cNvPr id="12" name="Text 10"/>
            <p:cNvSpPr txBox="1"/>
            <p:nvPr/>
          </p:nvSpPr>
          <p:spPr>
            <a:xfrm>
              <a:off x="3611880" y="228600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3611880" y="2971800"/>
              <a:ext cx="2148840" cy="411480"/>
            </a:xfrm>
            <a:prstGeom prst="rect">
              <a:avLst/>
            </a:prstGeom>
            <a:noFill/>
            <a:ln/>
          </p:spPr>
          <p:txBody>
            <a:bodyPr wrap="square" lIns="0" tIns="0" rIns="0" bIns="0" rtlCol="0" anchor="t"/>
            <a:lstStyle/>
            <a:p>
              <a:pPr marL="0" indent="0">
                <a:buNone/>
              </a:pPr>
              <a:r>
                <a:rPr lang="en-US" sz="1600" b="1" dirty="0">
                  <a:solidFill>
                    <a:srgbClr val="0092D5"/>
                  </a:solidFill>
                  <a:latin typeface="Arial" pitchFamily="34" charset="0"/>
                  <a:ea typeface="Arial" pitchFamily="34" charset="-122"/>
                  <a:cs typeface="Arial" pitchFamily="34" charset="-120"/>
                </a:rPr>
                <a:t>Recherche Tegel</a:t>
              </a:r>
              <a:endParaRPr lang="en-US" sz="1600" dirty="0"/>
            </a:p>
          </p:txBody>
        </p:sp>
        <p:sp>
          <p:nvSpPr>
            <p:cNvPr id="14" name="Text 12"/>
            <p:cNvSpPr txBox="1"/>
            <p:nvPr/>
          </p:nvSpPr>
          <p:spPr>
            <a:xfrm>
              <a:off x="3611880" y="3429000"/>
              <a:ext cx="2057400" cy="1143000"/>
            </a:xfrm>
            <a:prstGeom prst="rect">
              <a:avLst/>
            </a:prstGeom>
            <a:noFill/>
            <a:ln/>
          </p:spPr>
          <p:txBody>
            <a:bodyPr wrap="square" lIns="0" tIns="0" rIns="0" bIns="0" rtlCol="0" anchor="t"/>
            <a:lstStyle/>
            <a:p>
              <a:pPr marL="0" indent="0">
                <a:buNone/>
              </a:pPr>
              <a:r>
                <a:rPr lang="en-US" sz="1400" dirty="0">
                  <a:solidFill>
                    <a:srgbClr val="3D4750"/>
                  </a:solidFill>
                  <a:latin typeface="Calibri" pitchFamily="34" charset="0"/>
                  <a:ea typeface="Calibri" pitchFamily="34" charset="-122"/>
                  <a:cs typeface="Calibri" pitchFamily="34" charset="-120"/>
                </a:rPr>
                <a:t>Wir haben uns intensiver mit dem ehemaligen Flughafen Tegel beschäftigt.</a:t>
              </a:r>
              <a:endParaRPr lang="en-US" sz="1400" dirty="0"/>
            </a:p>
          </p:txBody>
        </p:sp>
        <p:sp>
          <p:nvSpPr>
            <p:cNvPr id="15" name="Text 13"/>
            <p:cNvSpPr txBox="1"/>
            <p:nvPr/>
          </p:nvSpPr>
          <p:spPr>
            <a:xfrm>
              <a:off x="5925312" y="3108960"/>
              <a:ext cx="219456" cy="365760"/>
            </a:xfrm>
            <a:prstGeom prst="rect">
              <a:avLst/>
            </a:prstGeom>
            <a:noFill/>
            <a:ln/>
          </p:spPr>
          <p:txBody>
            <a:bodyPr wrap="square" lIns="0" tIns="0" rIns="0" bIns="0" rtlCol="0" anchor="t"/>
            <a:lstStyle/>
            <a:p>
              <a:pPr marL="0" indent="0" algn="ctr">
                <a:buNone/>
              </a:pPr>
              <a:r>
                <a:rPr lang="en-US" sz="1800" dirty="0">
                  <a:solidFill>
                    <a:srgbClr val="5E6A74"/>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6126480" y="2011680"/>
              <a:ext cx="2606040" cy="2651760"/>
            </a:xfrm>
            <a:prstGeom prst="roundRect">
              <a:avLst>
                <a:gd name="adj" fmla="val 4211"/>
              </a:avLst>
            </a:prstGeom>
            <a:solidFill>
              <a:srgbClr val="EAF6FC"/>
            </a:solidFill>
            <a:ln w="12700">
              <a:solidFill>
                <a:srgbClr val="EAF6FC"/>
              </a:solidFill>
              <a:prstDash val="solid"/>
            </a:ln>
          </p:spPr>
          <p:txBody>
            <a:bodyPr/>
            <a:lstStyle/>
            <a:p>
              <a:endParaRPr lang="de-DE"/>
            </a:p>
          </p:txBody>
        </p:sp>
        <p:sp>
          <p:nvSpPr>
            <p:cNvPr id="17" name="Shape 15"/>
            <p:cNvSpPr/>
            <p:nvPr/>
          </p:nvSpPr>
          <p:spPr>
            <a:xfrm>
              <a:off x="6400800" y="2286000"/>
              <a:ext cx="548640" cy="548640"/>
            </a:xfrm>
            <a:prstGeom prst="ellipse">
              <a:avLst/>
            </a:prstGeom>
            <a:solidFill>
              <a:srgbClr val="0092D5"/>
            </a:solidFill>
            <a:ln w="12700">
              <a:solidFill>
                <a:srgbClr val="0092D5"/>
              </a:solidFill>
              <a:prstDash val="solid"/>
            </a:ln>
          </p:spPr>
          <p:txBody>
            <a:bodyPr/>
            <a:lstStyle/>
            <a:p>
              <a:endParaRPr lang="de-DE"/>
            </a:p>
          </p:txBody>
        </p:sp>
        <p:sp>
          <p:nvSpPr>
            <p:cNvPr id="18" name="Text 16"/>
            <p:cNvSpPr txBox="1"/>
            <p:nvPr/>
          </p:nvSpPr>
          <p:spPr>
            <a:xfrm>
              <a:off x="6400800" y="228600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9" name="Text 17"/>
            <p:cNvSpPr txBox="1"/>
            <p:nvPr/>
          </p:nvSpPr>
          <p:spPr>
            <a:xfrm>
              <a:off x="6400800" y="2971800"/>
              <a:ext cx="2148840" cy="411480"/>
            </a:xfrm>
            <a:prstGeom prst="rect">
              <a:avLst/>
            </a:prstGeom>
            <a:noFill/>
            <a:ln/>
          </p:spPr>
          <p:txBody>
            <a:bodyPr wrap="square" lIns="0" tIns="0" rIns="0" bIns="0" rtlCol="0" anchor="t"/>
            <a:lstStyle/>
            <a:p>
              <a:pPr marL="0" indent="0">
                <a:buNone/>
              </a:pPr>
              <a:r>
                <a:rPr lang="en-US" sz="1600" b="1" dirty="0">
                  <a:solidFill>
                    <a:srgbClr val="0092D5"/>
                  </a:solidFill>
                  <a:latin typeface="Arial" pitchFamily="34" charset="0"/>
                  <a:ea typeface="Arial" pitchFamily="34" charset="-122"/>
                  <a:cs typeface="Arial" pitchFamily="34" charset="-120"/>
                </a:rPr>
                <a:t>Schwammstadt</a:t>
              </a:r>
              <a:endParaRPr lang="en-US" sz="1600" dirty="0"/>
            </a:p>
          </p:txBody>
        </p:sp>
        <p:sp>
          <p:nvSpPr>
            <p:cNvPr id="20" name="Text 18"/>
            <p:cNvSpPr txBox="1"/>
            <p:nvPr/>
          </p:nvSpPr>
          <p:spPr>
            <a:xfrm>
              <a:off x="6400800" y="3429000"/>
              <a:ext cx="2057400" cy="1143000"/>
            </a:xfrm>
            <a:prstGeom prst="rect">
              <a:avLst/>
            </a:prstGeom>
            <a:noFill/>
            <a:ln/>
          </p:spPr>
          <p:txBody>
            <a:bodyPr wrap="square" lIns="0" tIns="0" rIns="0" bIns="0" rtlCol="0" anchor="t"/>
            <a:lstStyle/>
            <a:p>
              <a:pPr marL="0" indent="0">
                <a:buNone/>
              </a:pPr>
              <a:r>
                <a:rPr lang="en-US" sz="1400" dirty="0">
                  <a:solidFill>
                    <a:srgbClr val="3D4750"/>
                  </a:solidFill>
                  <a:latin typeface="Calibri" pitchFamily="34" charset="0"/>
                  <a:ea typeface="Calibri" pitchFamily="34" charset="-122"/>
                  <a:cs typeface="Calibri" pitchFamily="34" charset="-120"/>
                </a:rPr>
                <a:t>Dabei sind wir auf das Schwammstadt-Konzept im Schumacher Quartier gestoßen.</a:t>
              </a:r>
              <a:endParaRPr lang="en-US" sz="1400" dirty="0"/>
            </a:p>
          </p:txBody>
        </p:sp>
        <p:sp>
          <p:nvSpPr>
            <p:cNvPr id="21" name="Text 19"/>
            <p:cNvSpPr txBox="1"/>
            <p:nvPr/>
          </p:nvSpPr>
          <p:spPr>
            <a:xfrm>
              <a:off x="8714232" y="3108960"/>
              <a:ext cx="219456" cy="365760"/>
            </a:xfrm>
            <a:prstGeom prst="rect">
              <a:avLst/>
            </a:prstGeom>
            <a:noFill/>
            <a:ln/>
          </p:spPr>
          <p:txBody>
            <a:bodyPr wrap="square" lIns="0" tIns="0" rIns="0" bIns="0" rtlCol="0" anchor="t"/>
            <a:lstStyle/>
            <a:p>
              <a:pPr marL="0" indent="0" algn="ctr">
                <a:buNone/>
              </a:pPr>
              <a:r>
                <a:rPr lang="en-US" sz="1800" dirty="0">
                  <a:solidFill>
                    <a:srgbClr val="5E6A74"/>
                  </a:solidFill>
                  <a:latin typeface="Calibri" pitchFamily="34" charset="0"/>
                  <a:ea typeface="Calibri" pitchFamily="34" charset="-122"/>
                  <a:cs typeface="Calibri" pitchFamily="34" charset="-120"/>
                </a:rPr>
                <a:t>→</a:t>
              </a:r>
              <a:endParaRPr lang="en-US" sz="1800" dirty="0"/>
            </a:p>
          </p:txBody>
        </p:sp>
        <p:sp>
          <p:nvSpPr>
            <p:cNvPr id="22" name="Shape 20"/>
            <p:cNvSpPr/>
            <p:nvPr/>
          </p:nvSpPr>
          <p:spPr>
            <a:xfrm>
              <a:off x="8915400" y="2011680"/>
              <a:ext cx="2606040" cy="2651760"/>
            </a:xfrm>
            <a:prstGeom prst="roundRect">
              <a:avLst>
                <a:gd name="adj" fmla="val 4211"/>
              </a:avLst>
            </a:prstGeom>
            <a:solidFill>
              <a:srgbClr val="EAF6FC"/>
            </a:solidFill>
            <a:ln w="12700">
              <a:solidFill>
                <a:srgbClr val="EAF6FC"/>
              </a:solidFill>
              <a:prstDash val="solid"/>
            </a:ln>
          </p:spPr>
          <p:txBody>
            <a:bodyPr/>
            <a:lstStyle/>
            <a:p>
              <a:endParaRPr lang="de-DE"/>
            </a:p>
          </p:txBody>
        </p:sp>
        <p:sp>
          <p:nvSpPr>
            <p:cNvPr id="23" name="Shape 21"/>
            <p:cNvSpPr/>
            <p:nvPr/>
          </p:nvSpPr>
          <p:spPr>
            <a:xfrm>
              <a:off x="9189720" y="2286000"/>
              <a:ext cx="548640" cy="548640"/>
            </a:xfrm>
            <a:prstGeom prst="ellipse">
              <a:avLst/>
            </a:prstGeom>
            <a:solidFill>
              <a:srgbClr val="0092D5"/>
            </a:solidFill>
            <a:ln w="12700">
              <a:solidFill>
                <a:srgbClr val="0092D5"/>
              </a:solidFill>
              <a:prstDash val="solid"/>
            </a:ln>
          </p:spPr>
          <p:txBody>
            <a:bodyPr/>
            <a:lstStyle/>
            <a:p>
              <a:endParaRPr lang="de-DE"/>
            </a:p>
          </p:txBody>
        </p:sp>
        <p:sp>
          <p:nvSpPr>
            <p:cNvPr id="24" name="Text 22"/>
            <p:cNvSpPr txBox="1"/>
            <p:nvPr/>
          </p:nvSpPr>
          <p:spPr>
            <a:xfrm>
              <a:off x="9189720" y="228600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5" name="Text 23"/>
            <p:cNvSpPr txBox="1"/>
            <p:nvPr/>
          </p:nvSpPr>
          <p:spPr>
            <a:xfrm>
              <a:off x="9189720" y="2971800"/>
              <a:ext cx="2148840" cy="411480"/>
            </a:xfrm>
            <a:prstGeom prst="rect">
              <a:avLst/>
            </a:prstGeom>
            <a:noFill/>
            <a:ln/>
          </p:spPr>
          <p:txBody>
            <a:bodyPr wrap="square" lIns="0" tIns="0" rIns="0" bIns="0" rtlCol="0" anchor="t"/>
            <a:lstStyle/>
            <a:p>
              <a:pPr marL="0" indent="0">
                <a:buNone/>
              </a:pPr>
              <a:r>
                <a:rPr lang="en-US" sz="1600" b="1" dirty="0">
                  <a:solidFill>
                    <a:srgbClr val="0092D5"/>
                  </a:solidFill>
                  <a:latin typeface="Arial" pitchFamily="34" charset="0"/>
                  <a:ea typeface="Arial" pitchFamily="34" charset="-122"/>
                  <a:cs typeface="Arial" pitchFamily="34" charset="-120"/>
                </a:rPr>
                <a:t>Grundwasserdaten</a:t>
              </a:r>
              <a:endParaRPr lang="en-US" sz="1600" dirty="0"/>
            </a:p>
          </p:txBody>
        </p:sp>
        <p:sp>
          <p:nvSpPr>
            <p:cNvPr id="26" name="Text 24"/>
            <p:cNvSpPr txBox="1"/>
            <p:nvPr/>
          </p:nvSpPr>
          <p:spPr>
            <a:xfrm>
              <a:off x="9189720" y="3429000"/>
              <a:ext cx="2057400" cy="1143000"/>
            </a:xfrm>
            <a:prstGeom prst="rect">
              <a:avLst/>
            </a:prstGeom>
            <a:noFill/>
            <a:ln/>
          </p:spPr>
          <p:txBody>
            <a:bodyPr wrap="square" lIns="0" tIns="0" rIns="0" bIns="0" rtlCol="0" anchor="t"/>
            <a:lstStyle/>
            <a:p>
              <a:pPr marL="0" indent="0">
                <a:buNone/>
              </a:pPr>
              <a:r>
                <a:rPr lang="en-US" sz="1400" dirty="0">
                  <a:solidFill>
                    <a:srgbClr val="3D4750"/>
                  </a:solidFill>
                  <a:latin typeface="Calibri" pitchFamily="34" charset="0"/>
                  <a:ea typeface="Calibri" pitchFamily="34" charset="-122"/>
                  <a:cs typeface="Calibri" pitchFamily="34" charset="-120"/>
                </a:rPr>
                <a:t>Über den FUTR HUB (Summer School) kamen wir an Grundwasserdaten von Messstellen auf dem Gelände.</a:t>
              </a:r>
              <a:endParaRPr lang="en-US" sz="1400" dirty="0"/>
            </a:p>
          </p:txBody>
        </p:sp>
      </p:grpSp>
      <p:sp>
        <p:nvSpPr>
          <p:cNvPr id="27" name="Shape 25"/>
          <p:cNvSpPr/>
          <p:nvPr/>
        </p:nvSpPr>
        <p:spPr>
          <a:xfrm>
            <a:off x="548640" y="4937760"/>
            <a:ext cx="11091672" cy="1097280"/>
          </a:xfrm>
          <a:prstGeom prst="roundRect">
            <a:avLst>
              <a:gd name="adj" fmla="val 10000"/>
            </a:avLst>
          </a:prstGeom>
          <a:solidFill>
            <a:srgbClr val="0092D5"/>
          </a:solidFill>
          <a:ln w="12700">
            <a:solidFill>
              <a:srgbClr val="0092D5"/>
            </a:solidFill>
            <a:prstDash val="solid"/>
          </a:ln>
        </p:spPr>
        <p:txBody>
          <a:bodyPr/>
          <a:lstStyle/>
          <a:p>
            <a:endParaRPr lang="de-DE"/>
          </a:p>
        </p:txBody>
      </p:sp>
      <p:sp>
        <p:nvSpPr>
          <p:cNvPr id="28" name="Text 26"/>
          <p:cNvSpPr txBox="1"/>
          <p:nvPr/>
        </p:nvSpPr>
        <p:spPr>
          <a:xfrm>
            <a:off x="882396" y="5017554"/>
            <a:ext cx="2743200" cy="274320"/>
          </a:xfrm>
          <a:prstGeom prst="rect">
            <a:avLst/>
          </a:prstGeom>
          <a:noFill/>
          <a:ln/>
        </p:spPr>
        <p:txBody>
          <a:bodyPr wrap="square" lIns="0" tIns="0" rIns="0" bIns="0" rtlCol="0" anchor="t"/>
          <a:lstStyle/>
          <a:p>
            <a:pPr marL="0" indent="0">
              <a:buNone/>
            </a:pPr>
            <a:r>
              <a:rPr lang="en-US" sz="1200" b="1" kern="0" spc="200" dirty="0">
                <a:solidFill>
                  <a:srgbClr val="E3F4FC"/>
                </a:solidFill>
                <a:latin typeface="Calibri" pitchFamily="34" charset="0"/>
                <a:ea typeface="Calibri" pitchFamily="34" charset="-122"/>
                <a:cs typeface="Calibri" pitchFamily="34" charset="-120"/>
              </a:rPr>
              <a:t>Unsere Fragestellung</a:t>
            </a:r>
            <a:endParaRPr lang="en-US" sz="1200" dirty="0"/>
          </a:p>
        </p:txBody>
      </p:sp>
      <p:sp>
        <p:nvSpPr>
          <p:cNvPr id="29" name="Text 27"/>
          <p:cNvSpPr txBox="1"/>
          <p:nvPr/>
        </p:nvSpPr>
        <p:spPr>
          <a:xfrm>
            <a:off x="868680" y="5291874"/>
            <a:ext cx="10451592" cy="548640"/>
          </a:xfrm>
          <a:prstGeom prst="rect">
            <a:avLst/>
          </a:prstGeom>
          <a:noFill/>
          <a:ln/>
        </p:spPr>
        <p:txBody>
          <a:bodyPr wrap="square" lIns="0" tIns="0" rIns="0" bIns="0" rtlCol="0" anchor="t"/>
          <a:lstStyle/>
          <a:p>
            <a:pPr marL="0" indent="0">
              <a:buNone/>
            </a:pPr>
            <a:r>
              <a:rPr lang="en-US" sz="2100" b="1" dirty="0">
                <a:solidFill>
                  <a:srgbClr val="FFFFFF"/>
                </a:solidFill>
                <a:latin typeface="Arial" pitchFamily="34" charset="0"/>
                <a:ea typeface="Arial" pitchFamily="34" charset="-122"/>
                <a:cs typeface="Arial" pitchFamily="34" charset="-120"/>
              </a:rPr>
              <a:t>Reagiert das Grundwasser in Tegel auf Regen – und was bedeutet das für die geplante Schwammstadt?</a:t>
            </a:r>
            <a:endParaRPr lang="en-US" sz="2100" dirty="0"/>
          </a:p>
        </p:txBody>
      </p:sp>
      <p:sp>
        <p:nvSpPr>
          <p:cNvPr id="30" name="Text 28"/>
          <p:cNvSpPr txBox="1"/>
          <p:nvPr/>
        </p:nvSpPr>
        <p:spPr>
          <a:xfrm>
            <a:off x="548640" y="6446520"/>
            <a:ext cx="11091672" cy="274320"/>
          </a:xfrm>
          <a:prstGeom prst="rect">
            <a:avLst/>
          </a:prstGeom>
          <a:noFill/>
          <a:ln/>
        </p:spPr>
        <p:txBody>
          <a:bodyPr wrap="square" lIns="0" tIns="0" rIns="0" bIns="0" rtlCol="0" anchor="t"/>
          <a:lstStyle/>
          <a:p>
            <a:pPr marL="0" indent="0">
              <a:buNone/>
            </a:pPr>
            <a:r>
              <a:rPr lang="en-US" sz="950" dirty="0">
                <a:solidFill>
                  <a:srgbClr val="5E6A74"/>
                </a:solidFill>
                <a:latin typeface="Calibri" pitchFamily="34" charset="0"/>
                <a:ea typeface="Calibri" pitchFamily="34" charset="-122"/>
                <a:cs typeface="Calibri" pitchFamily="34" charset="-120"/>
              </a:rPr>
              <a:t>FUTR HUB – Innovating Urban Data, Urban Tech Republic (futr-hub.urbantechrepublic.de)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C:/Users/huyenp/Desktop/01 Huyen/02 Schulungen/01 University/02 HTW/Bigdata/final/tegel-scrollytelling/img/runway-2015.jpg"/>
          <p:cNvPicPr>
            <a:picLocks noChangeAspect="1"/>
          </p:cNvPicPr>
          <p:nvPr/>
        </p:nvPicPr>
        <p:blipFill>
          <a:blip r:embed="rId3"/>
          <a:srcRect/>
          <a:stretch/>
        </p:blipFill>
        <p:spPr>
          <a:xfrm>
            <a:off x="0" y="0"/>
            <a:ext cx="4846320" cy="6858000"/>
          </a:xfrm>
          <a:prstGeom prst="rect">
            <a:avLst/>
          </a:prstGeom>
        </p:spPr>
      </p:pic>
      <p:sp>
        <p:nvSpPr>
          <p:cNvPr id="3" name="Text 0"/>
          <p:cNvSpPr txBox="1"/>
          <p:nvPr/>
        </p:nvSpPr>
        <p:spPr>
          <a:xfrm>
            <a:off x="182880" y="6492240"/>
            <a:ext cx="4572000" cy="228600"/>
          </a:xfrm>
          <a:prstGeom prst="rect">
            <a:avLst/>
          </a:prstGeom>
          <a:noFill/>
          <a:ln/>
        </p:spPr>
        <p:txBody>
          <a:bodyPr wrap="square" lIns="0" tIns="0" rIns="0" bIns="0" rtlCol="0" anchor="t"/>
          <a:lstStyle/>
          <a:p>
            <a:pPr marL="0" indent="0">
              <a:buNone/>
            </a:pPr>
            <a:r>
              <a:rPr lang="en-US" sz="850" dirty="0">
                <a:solidFill>
                  <a:srgbClr val="FFFFFF"/>
                </a:solidFill>
                <a:latin typeface="Calibri" pitchFamily="34" charset="0"/>
                <a:ea typeface="Calibri" pitchFamily="34" charset="-122"/>
                <a:cs typeface="Calibri" pitchFamily="34" charset="-120"/>
              </a:rPr>
              <a:t>Landebahn Tegel 2015. Foto: Orderinchaos, Wikimedia Commons, CC BY-SA 4.0</a:t>
            </a:r>
            <a:endParaRPr lang="en-US" sz="850" dirty="0"/>
          </a:p>
        </p:txBody>
      </p:sp>
      <p:sp>
        <p:nvSpPr>
          <p:cNvPr id="4" name="Text 1"/>
          <p:cNvSpPr txBox="1"/>
          <p:nvPr/>
        </p:nvSpPr>
        <p:spPr>
          <a:xfrm>
            <a:off x="5394960" y="457200"/>
            <a:ext cx="5486400" cy="274320"/>
          </a:xfrm>
          <a:prstGeom prst="rect">
            <a:avLst/>
          </a:prstGeom>
          <a:noFill/>
          <a:ln/>
        </p:spPr>
        <p:txBody>
          <a:bodyPr wrap="square" lIns="0" tIns="0" rIns="0" bIns="0" rtlCol="0" anchor="t"/>
          <a:lstStyle/>
          <a:p>
            <a:pPr marL="0" indent="0">
              <a:buNone/>
            </a:pPr>
            <a:r>
              <a:rPr lang="en-US" sz="1200" b="1" kern="0" spc="300" dirty="0">
                <a:solidFill>
                  <a:srgbClr val="5E6A74"/>
                </a:solidFill>
                <a:latin typeface="Calibri" pitchFamily="34" charset="0"/>
                <a:ea typeface="Calibri" pitchFamily="34" charset="-122"/>
                <a:cs typeface="Calibri" pitchFamily="34" charset="-120"/>
              </a:rPr>
              <a:t>WARUM TEGEL?</a:t>
            </a:r>
            <a:endParaRPr lang="en-US" sz="1200" dirty="0"/>
          </a:p>
        </p:txBody>
      </p:sp>
      <p:sp>
        <p:nvSpPr>
          <p:cNvPr id="5" name="Text 2"/>
          <p:cNvSpPr txBox="1"/>
          <p:nvPr/>
        </p:nvSpPr>
        <p:spPr>
          <a:xfrm>
            <a:off x="5394960" y="777240"/>
            <a:ext cx="6245352" cy="822960"/>
          </a:xfrm>
          <a:prstGeom prst="rect">
            <a:avLst/>
          </a:prstGeom>
          <a:noFill/>
          <a:ln/>
        </p:spPr>
        <p:txBody>
          <a:bodyPr wrap="square" lIns="0" tIns="0" rIns="0" bIns="0" rtlCol="0" anchor="t"/>
          <a:lstStyle/>
          <a:p>
            <a:pPr marL="0" indent="0">
              <a:buNone/>
            </a:pPr>
            <a:r>
              <a:rPr lang="en-US" sz="3200" b="1" dirty="0">
                <a:solidFill>
                  <a:srgbClr val="15191C"/>
                </a:solidFill>
                <a:latin typeface="Arial" pitchFamily="34" charset="0"/>
                <a:ea typeface="Arial" pitchFamily="34" charset="-122"/>
                <a:cs typeface="Arial" pitchFamily="34" charset="-120"/>
              </a:rPr>
              <a:t>Aus Asphalt wird ein Stadtquartier</a:t>
            </a:r>
            <a:endParaRPr lang="en-US" sz="3200" dirty="0"/>
          </a:p>
        </p:txBody>
      </p:sp>
      <p:sp>
        <p:nvSpPr>
          <p:cNvPr id="6" name="Shape 3"/>
          <p:cNvSpPr/>
          <p:nvPr/>
        </p:nvSpPr>
        <p:spPr>
          <a:xfrm>
            <a:off x="5394960" y="1828800"/>
            <a:ext cx="1959864" cy="1600200"/>
          </a:xfrm>
          <a:prstGeom prst="roundRect">
            <a:avLst>
              <a:gd name="adj" fmla="val 6857"/>
            </a:avLst>
          </a:prstGeom>
          <a:solidFill>
            <a:srgbClr val="EAF6FC"/>
          </a:solidFill>
          <a:ln w="12700">
            <a:solidFill>
              <a:srgbClr val="EAF6FC"/>
            </a:solidFill>
            <a:prstDash val="solid"/>
          </a:ln>
        </p:spPr>
        <p:txBody>
          <a:bodyPr/>
          <a:lstStyle/>
          <a:p>
            <a:endParaRPr lang="de-DE"/>
          </a:p>
        </p:txBody>
      </p:sp>
      <p:sp>
        <p:nvSpPr>
          <p:cNvPr id="7" name="Text 4"/>
          <p:cNvSpPr txBox="1"/>
          <p:nvPr/>
        </p:nvSpPr>
        <p:spPr>
          <a:xfrm>
            <a:off x="5577840" y="2011680"/>
            <a:ext cx="1594104" cy="640080"/>
          </a:xfrm>
          <a:prstGeom prst="rect">
            <a:avLst/>
          </a:prstGeom>
          <a:noFill/>
          <a:ln/>
        </p:spPr>
        <p:txBody>
          <a:bodyPr wrap="square" lIns="0" tIns="0" rIns="0" bIns="0" rtlCol="0" anchor="t"/>
          <a:lstStyle/>
          <a:p>
            <a:pPr marL="0" indent="0">
              <a:buNone/>
            </a:pPr>
            <a:r>
              <a:rPr lang="en-US" sz="3200" b="1" dirty="0">
                <a:solidFill>
                  <a:srgbClr val="0092D5"/>
                </a:solidFill>
                <a:latin typeface="Arial" pitchFamily="34" charset="0"/>
                <a:ea typeface="Arial" pitchFamily="34" charset="-122"/>
                <a:cs typeface="Arial" pitchFamily="34" charset="-120"/>
              </a:rPr>
              <a:t>500 ha</a:t>
            </a:r>
            <a:endParaRPr lang="en-US" sz="3200" dirty="0"/>
          </a:p>
        </p:txBody>
      </p:sp>
      <p:sp>
        <p:nvSpPr>
          <p:cNvPr id="8" name="Text 5"/>
          <p:cNvSpPr txBox="1"/>
          <p:nvPr/>
        </p:nvSpPr>
        <p:spPr>
          <a:xfrm>
            <a:off x="5577840" y="2697480"/>
            <a:ext cx="1594104" cy="640080"/>
          </a:xfrm>
          <a:prstGeom prst="rect">
            <a:avLst/>
          </a:prstGeom>
          <a:noFill/>
          <a:ln/>
        </p:spPr>
        <p:txBody>
          <a:bodyPr wrap="square" lIns="0" tIns="0" rIns="0" bIns="0" rtlCol="0" anchor="t"/>
          <a:lstStyle/>
          <a:p>
            <a:pPr marL="0" indent="0">
              <a:buNone/>
            </a:pPr>
            <a:r>
              <a:rPr lang="en-US" sz="1300" dirty="0">
                <a:solidFill>
                  <a:srgbClr val="3D4750"/>
                </a:solidFill>
                <a:latin typeface="Calibri" pitchFamily="34" charset="0"/>
                <a:ea typeface="Calibri" pitchFamily="34" charset="-122"/>
                <a:cs typeface="Calibri" pitchFamily="34" charset="-120"/>
              </a:rPr>
              <a:t>ehemaliges Flughafenareal</a:t>
            </a:r>
            <a:endParaRPr lang="en-US" sz="1300" dirty="0"/>
          </a:p>
        </p:txBody>
      </p:sp>
      <p:sp>
        <p:nvSpPr>
          <p:cNvPr id="9" name="Shape 6"/>
          <p:cNvSpPr/>
          <p:nvPr/>
        </p:nvSpPr>
        <p:spPr>
          <a:xfrm>
            <a:off x="7537704" y="1828800"/>
            <a:ext cx="1959864" cy="1600200"/>
          </a:xfrm>
          <a:prstGeom prst="roundRect">
            <a:avLst>
              <a:gd name="adj" fmla="val 6857"/>
            </a:avLst>
          </a:prstGeom>
          <a:solidFill>
            <a:srgbClr val="EAF6FC"/>
          </a:solidFill>
          <a:ln w="12700">
            <a:solidFill>
              <a:srgbClr val="EAF6FC"/>
            </a:solidFill>
            <a:prstDash val="solid"/>
          </a:ln>
        </p:spPr>
        <p:txBody>
          <a:bodyPr/>
          <a:lstStyle/>
          <a:p>
            <a:endParaRPr lang="de-DE"/>
          </a:p>
        </p:txBody>
      </p:sp>
      <p:sp>
        <p:nvSpPr>
          <p:cNvPr id="10" name="Text 7"/>
          <p:cNvSpPr txBox="1"/>
          <p:nvPr/>
        </p:nvSpPr>
        <p:spPr>
          <a:xfrm>
            <a:off x="7720584" y="2011680"/>
            <a:ext cx="1594104" cy="640080"/>
          </a:xfrm>
          <a:prstGeom prst="rect">
            <a:avLst/>
          </a:prstGeom>
          <a:noFill/>
          <a:ln/>
        </p:spPr>
        <p:txBody>
          <a:bodyPr wrap="square" lIns="0" tIns="0" rIns="0" bIns="0" rtlCol="0" anchor="t"/>
          <a:lstStyle/>
          <a:p>
            <a:pPr marL="0" indent="0">
              <a:buNone/>
            </a:pPr>
            <a:r>
              <a:rPr lang="en-US" sz="3200" b="1" dirty="0">
                <a:solidFill>
                  <a:srgbClr val="0092D5"/>
                </a:solidFill>
                <a:latin typeface="Arial" pitchFamily="34" charset="0"/>
                <a:ea typeface="Arial" pitchFamily="34" charset="-122"/>
                <a:cs typeface="Arial" pitchFamily="34" charset="-120"/>
              </a:rPr>
              <a:t>5.000+</a:t>
            </a:r>
            <a:endParaRPr lang="en-US" sz="3200" dirty="0"/>
          </a:p>
        </p:txBody>
      </p:sp>
      <p:sp>
        <p:nvSpPr>
          <p:cNvPr id="11" name="Text 8"/>
          <p:cNvSpPr txBox="1"/>
          <p:nvPr/>
        </p:nvSpPr>
        <p:spPr>
          <a:xfrm>
            <a:off x="7720584" y="2697480"/>
            <a:ext cx="1594104" cy="640080"/>
          </a:xfrm>
          <a:prstGeom prst="rect">
            <a:avLst/>
          </a:prstGeom>
          <a:noFill/>
          <a:ln/>
        </p:spPr>
        <p:txBody>
          <a:bodyPr wrap="square" lIns="0" tIns="0" rIns="0" bIns="0" rtlCol="0" anchor="t"/>
          <a:lstStyle/>
          <a:p>
            <a:pPr marL="0" indent="0">
              <a:buNone/>
            </a:pPr>
            <a:r>
              <a:rPr lang="en-US" sz="1300" dirty="0">
                <a:solidFill>
                  <a:srgbClr val="3D4750"/>
                </a:solidFill>
                <a:latin typeface="Calibri" pitchFamily="34" charset="0"/>
                <a:ea typeface="Calibri" pitchFamily="34" charset="-122"/>
                <a:cs typeface="Calibri" pitchFamily="34" charset="-120"/>
              </a:rPr>
              <a:t>geplante Wohnungen im Schumacher Quartier</a:t>
            </a:r>
            <a:endParaRPr lang="en-US" sz="1300" dirty="0"/>
          </a:p>
        </p:txBody>
      </p:sp>
      <p:sp>
        <p:nvSpPr>
          <p:cNvPr id="12" name="Shape 9"/>
          <p:cNvSpPr/>
          <p:nvPr/>
        </p:nvSpPr>
        <p:spPr>
          <a:xfrm>
            <a:off x="9680448" y="1828800"/>
            <a:ext cx="1959864" cy="1600200"/>
          </a:xfrm>
          <a:prstGeom prst="roundRect">
            <a:avLst>
              <a:gd name="adj" fmla="val 6857"/>
            </a:avLst>
          </a:prstGeom>
          <a:solidFill>
            <a:srgbClr val="EAF6FC"/>
          </a:solidFill>
          <a:ln w="12700">
            <a:solidFill>
              <a:srgbClr val="EAF6FC"/>
            </a:solidFill>
            <a:prstDash val="solid"/>
          </a:ln>
        </p:spPr>
        <p:txBody>
          <a:bodyPr/>
          <a:lstStyle/>
          <a:p>
            <a:endParaRPr lang="de-DE"/>
          </a:p>
        </p:txBody>
      </p:sp>
      <p:sp>
        <p:nvSpPr>
          <p:cNvPr id="13" name="Text 10"/>
          <p:cNvSpPr txBox="1"/>
          <p:nvPr/>
        </p:nvSpPr>
        <p:spPr>
          <a:xfrm>
            <a:off x="9863328" y="2011680"/>
            <a:ext cx="1594104" cy="640080"/>
          </a:xfrm>
          <a:prstGeom prst="rect">
            <a:avLst/>
          </a:prstGeom>
          <a:noFill/>
          <a:ln/>
        </p:spPr>
        <p:txBody>
          <a:bodyPr wrap="square" lIns="0" tIns="0" rIns="0" bIns="0" rtlCol="0" anchor="t"/>
          <a:lstStyle/>
          <a:p>
            <a:pPr marL="0" indent="0">
              <a:buNone/>
            </a:pPr>
            <a:r>
              <a:rPr lang="en-US" sz="3200" b="1" dirty="0">
                <a:solidFill>
                  <a:srgbClr val="0092D5"/>
                </a:solidFill>
                <a:latin typeface="Arial" pitchFamily="34" charset="0"/>
                <a:ea typeface="Arial" pitchFamily="34" charset="-122"/>
                <a:cs typeface="Arial" pitchFamily="34" charset="-120"/>
              </a:rPr>
              <a:t>10.000+</a:t>
            </a:r>
            <a:endParaRPr lang="en-US" sz="3200" dirty="0"/>
          </a:p>
        </p:txBody>
      </p:sp>
      <p:sp>
        <p:nvSpPr>
          <p:cNvPr id="14" name="Text 11"/>
          <p:cNvSpPr txBox="1"/>
          <p:nvPr/>
        </p:nvSpPr>
        <p:spPr>
          <a:xfrm>
            <a:off x="9863328" y="2697480"/>
            <a:ext cx="1594104" cy="640080"/>
          </a:xfrm>
          <a:prstGeom prst="rect">
            <a:avLst/>
          </a:prstGeom>
          <a:noFill/>
          <a:ln/>
        </p:spPr>
        <p:txBody>
          <a:bodyPr wrap="square" lIns="0" tIns="0" rIns="0" bIns="0" rtlCol="0" anchor="t"/>
          <a:lstStyle/>
          <a:p>
            <a:pPr marL="0" indent="0">
              <a:buNone/>
            </a:pPr>
            <a:r>
              <a:rPr lang="en-US" sz="1300" dirty="0">
                <a:solidFill>
                  <a:srgbClr val="3D4750"/>
                </a:solidFill>
                <a:latin typeface="Calibri" pitchFamily="34" charset="0"/>
                <a:ea typeface="Calibri" pitchFamily="34" charset="-122"/>
                <a:cs typeface="Calibri" pitchFamily="34" charset="-120"/>
              </a:rPr>
              <a:t>künftige Bewohnerinnen und Bewohner</a:t>
            </a:r>
            <a:endParaRPr lang="en-US" sz="1300" dirty="0"/>
          </a:p>
        </p:txBody>
      </p:sp>
      <p:sp>
        <p:nvSpPr>
          <p:cNvPr id="15" name="Text 12"/>
          <p:cNvSpPr txBox="1"/>
          <p:nvPr/>
        </p:nvSpPr>
        <p:spPr>
          <a:xfrm>
            <a:off x="5394960" y="3749040"/>
            <a:ext cx="6245352" cy="2011680"/>
          </a:xfrm>
          <a:prstGeom prst="rect">
            <a:avLst/>
          </a:prstGeom>
          <a:noFill/>
          <a:ln/>
        </p:spPr>
        <p:txBody>
          <a:bodyPr wrap="square" lIns="0" tIns="0" rIns="0" bIns="0" rtlCol="0" anchor="t"/>
          <a:lstStyle/>
          <a:p>
            <a:pPr marL="0" indent="0">
              <a:spcAft>
                <a:spcPts val="1000"/>
              </a:spcAft>
              <a:buNone/>
            </a:pPr>
            <a:r>
              <a:rPr lang="en-US" sz="1600" b="1" dirty="0">
                <a:solidFill>
                  <a:srgbClr val="15191C"/>
                </a:solidFill>
                <a:latin typeface="Calibri" pitchFamily="34" charset="0"/>
                <a:ea typeface="Calibri" pitchFamily="34" charset="-122"/>
                <a:cs typeface="Calibri" pitchFamily="34" charset="-120"/>
              </a:rPr>
              <a:t>Früher: </a:t>
            </a:r>
            <a:r>
              <a:rPr lang="en-US" sz="1600" dirty="0">
                <a:solidFill>
                  <a:srgbClr val="15191C"/>
                </a:solidFill>
                <a:latin typeface="Calibri" pitchFamily="34" charset="0"/>
                <a:ea typeface="Calibri" pitchFamily="34" charset="-122"/>
                <a:cs typeface="Calibri" pitchFamily="34" charset="-120"/>
              </a:rPr>
              <a:t>Regen musste schnell von Start- und Landebahnen weg.</a:t>
            </a:r>
            <a:endParaRPr lang="en-US" sz="1600" dirty="0"/>
          </a:p>
          <a:p>
            <a:pPr marL="0" indent="0">
              <a:spcAft>
                <a:spcPts val="1000"/>
              </a:spcAft>
              <a:buNone/>
            </a:pPr>
            <a:r>
              <a:rPr lang="en-US" sz="1600" b="1" dirty="0">
                <a:solidFill>
                  <a:srgbClr val="0092D5"/>
                </a:solidFill>
                <a:latin typeface="Calibri" pitchFamily="34" charset="0"/>
                <a:ea typeface="Calibri" pitchFamily="34" charset="-122"/>
                <a:cs typeface="Calibri" pitchFamily="34" charset="-120"/>
              </a:rPr>
              <a:t>Künftig: </a:t>
            </a:r>
            <a:r>
              <a:rPr lang="en-US" sz="1600" dirty="0">
                <a:solidFill>
                  <a:srgbClr val="15191C"/>
                </a:solidFill>
                <a:latin typeface="Calibri" pitchFamily="34" charset="0"/>
                <a:ea typeface="Calibri" pitchFamily="34" charset="-122"/>
                <a:cs typeface="Calibri" pitchFamily="34" charset="-120"/>
              </a:rPr>
              <a:t>Schwammstadt-Prinzip – Regen soll gespeichert, genutzt, verdunstet und versickert werden.</a:t>
            </a:r>
            <a:endParaRPr lang="en-US" sz="1600" dirty="0"/>
          </a:p>
          <a:p>
            <a:pPr marL="0" indent="0">
              <a:spcAft>
                <a:spcPts val="1000"/>
              </a:spcAft>
              <a:buNone/>
            </a:pPr>
            <a:r>
              <a:rPr lang="en-US" sz="1600" b="1" dirty="0">
                <a:solidFill>
                  <a:srgbClr val="0092D5"/>
                </a:solidFill>
                <a:latin typeface="Calibri" pitchFamily="34" charset="0"/>
                <a:ea typeface="Calibri" pitchFamily="34" charset="-122"/>
                <a:cs typeface="Calibri" pitchFamily="34" charset="-120"/>
              </a:rPr>
              <a:t>Grundwasser: </a:t>
            </a:r>
            <a:r>
              <a:rPr lang="en-US" sz="1600" dirty="0">
                <a:solidFill>
                  <a:srgbClr val="15191C"/>
                </a:solidFill>
                <a:latin typeface="Calibri" pitchFamily="34" charset="0"/>
                <a:ea typeface="Calibri" pitchFamily="34" charset="-122"/>
                <a:cs typeface="Calibri" pitchFamily="34" charset="-120"/>
              </a:rPr>
              <a:t>Wie der Stadtteil mit Regen umgeht, betrifft Bäume, Kühlung und den Wasserhaushalt.</a:t>
            </a:r>
            <a:endParaRPr lang="en-US" sz="1600" dirty="0"/>
          </a:p>
        </p:txBody>
      </p:sp>
      <p:sp>
        <p:nvSpPr>
          <p:cNvPr id="16" name="Text 13"/>
          <p:cNvSpPr txBox="1"/>
          <p:nvPr/>
        </p:nvSpPr>
        <p:spPr>
          <a:xfrm>
            <a:off x="5394960" y="6355080"/>
            <a:ext cx="6245352" cy="365760"/>
          </a:xfrm>
          <a:prstGeom prst="rect">
            <a:avLst/>
          </a:prstGeom>
          <a:noFill/>
          <a:ln/>
        </p:spPr>
        <p:txBody>
          <a:bodyPr wrap="square" lIns="0" tIns="0" rIns="0" bIns="0" rtlCol="0" anchor="t"/>
          <a:lstStyle/>
          <a:p>
            <a:pPr marL="0" indent="0">
              <a:buNone/>
            </a:pPr>
            <a:r>
              <a:rPr lang="en-US" sz="950" dirty="0">
                <a:solidFill>
                  <a:srgbClr val="5E6A74"/>
                </a:solidFill>
                <a:latin typeface="Calibri" pitchFamily="34" charset="0"/>
                <a:ea typeface="Calibri" pitchFamily="34" charset="-122"/>
                <a:cs typeface="Calibri" pitchFamily="34" charset="-120"/>
              </a:rPr>
              <a:t>Quellen: Berlin TXL Management GmbH, „Über uns“; SenStadt, PM 31.01.2025; schumacher-quartier.de „Wassernutzung“ (abgerufen 23.09.2026)</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marL="0" indent="0">
              <a:buNone/>
            </a:pPr>
            <a:r>
              <a:rPr lang="en-US" sz="1200" b="1" kern="0" spc="300" dirty="0">
                <a:solidFill>
                  <a:srgbClr val="5E6A74"/>
                </a:solidFill>
                <a:latin typeface="Calibri" pitchFamily="34" charset="0"/>
                <a:ea typeface="Calibri" pitchFamily="34" charset="-122"/>
                <a:cs typeface="Calibri" pitchFamily="34" charset="-120"/>
              </a:rPr>
              <a:t>DATENBEARBEITUNG &amp; PROBLEME</a:t>
            </a:r>
            <a:endParaRPr lang="en-US" sz="12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marL="0" indent="0">
              <a:buNone/>
            </a:pPr>
            <a:r>
              <a:rPr lang="en-US" sz="3400" b="1" dirty="0">
                <a:solidFill>
                  <a:srgbClr val="15191C"/>
                </a:solidFill>
                <a:latin typeface="Arial" pitchFamily="34" charset="0"/>
                <a:ea typeface="Arial" pitchFamily="34" charset="-122"/>
                <a:cs typeface="Arial" pitchFamily="34" charset="-120"/>
              </a:rPr>
              <a:t>Drei Datenquellen, ein Umweg über HYRAS</a:t>
            </a:r>
            <a:endParaRPr lang="en-US" sz="3400" dirty="0"/>
          </a:p>
        </p:txBody>
      </p:sp>
      <p:sp>
        <p:nvSpPr>
          <p:cNvPr id="4" name="Shape 2"/>
          <p:cNvSpPr/>
          <p:nvPr/>
        </p:nvSpPr>
        <p:spPr>
          <a:xfrm>
            <a:off x="548640" y="1828800"/>
            <a:ext cx="3520440" cy="2148840"/>
          </a:xfrm>
          <a:prstGeom prst="roundRect">
            <a:avLst>
              <a:gd name="adj" fmla="val 5106"/>
            </a:avLst>
          </a:prstGeom>
          <a:solidFill>
            <a:srgbClr val="EAF6FC"/>
          </a:solidFill>
          <a:ln w="12700">
            <a:solidFill>
              <a:srgbClr val="EAF6FC"/>
            </a:solidFill>
            <a:prstDash val="solid"/>
          </a:ln>
        </p:spPr>
        <p:txBody>
          <a:bodyPr/>
          <a:lstStyle/>
          <a:p>
            <a:endParaRPr lang="de-DE"/>
          </a:p>
        </p:txBody>
      </p:sp>
      <p:sp>
        <p:nvSpPr>
          <p:cNvPr id="5" name="Text 3"/>
          <p:cNvSpPr txBox="1"/>
          <p:nvPr/>
        </p:nvSpPr>
        <p:spPr>
          <a:xfrm>
            <a:off x="822960" y="2057400"/>
            <a:ext cx="2971800" cy="365760"/>
          </a:xfrm>
          <a:prstGeom prst="rect">
            <a:avLst/>
          </a:prstGeom>
          <a:noFill/>
          <a:ln/>
        </p:spPr>
        <p:txBody>
          <a:bodyPr wrap="square" lIns="0" tIns="0" rIns="0" bIns="0" rtlCol="0" anchor="t"/>
          <a:lstStyle/>
          <a:p>
            <a:pPr marL="0" indent="0">
              <a:buNone/>
            </a:pPr>
            <a:r>
              <a:rPr lang="en-US" sz="1900" b="1" dirty="0">
                <a:solidFill>
                  <a:srgbClr val="0092D5"/>
                </a:solidFill>
                <a:latin typeface="Arial" pitchFamily="34" charset="0"/>
                <a:ea typeface="Arial" pitchFamily="34" charset="-122"/>
                <a:cs typeface="Arial" pitchFamily="34" charset="-120"/>
              </a:rPr>
              <a:t>Grundwasser</a:t>
            </a:r>
            <a:endParaRPr lang="en-US" sz="1900" dirty="0"/>
          </a:p>
        </p:txBody>
      </p:sp>
      <p:sp>
        <p:nvSpPr>
          <p:cNvPr id="6" name="Text 4"/>
          <p:cNvSpPr txBox="1"/>
          <p:nvPr/>
        </p:nvSpPr>
        <p:spPr>
          <a:xfrm>
            <a:off x="822960" y="2423160"/>
            <a:ext cx="2971800" cy="274320"/>
          </a:xfrm>
          <a:prstGeom prst="rect">
            <a:avLst/>
          </a:prstGeom>
          <a:noFill/>
          <a:ln/>
        </p:spPr>
        <p:txBody>
          <a:bodyPr wrap="square" lIns="0" tIns="0" rIns="0" bIns="0" rtlCol="0" anchor="t"/>
          <a:lstStyle/>
          <a:p>
            <a:pPr marL="0" indent="0">
              <a:buNone/>
            </a:pPr>
            <a:r>
              <a:rPr lang="en-US" sz="1200" dirty="0">
                <a:solidFill>
                  <a:srgbClr val="5E6A74"/>
                </a:solidFill>
                <a:latin typeface="Calibri" pitchFamily="34" charset="0"/>
                <a:ea typeface="Calibri" pitchFamily="34" charset="-122"/>
                <a:cs typeface="Calibri" pitchFamily="34" charset="-120"/>
              </a:rPr>
              <a:t>FUTR HUB</a:t>
            </a:r>
            <a:endParaRPr lang="en-US" sz="1200" dirty="0"/>
          </a:p>
        </p:txBody>
      </p:sp>
      <p:sp>
        <p:nvSpPr>
          <p:cNvPr id="7" name="Text 5"/>
          <p:cNvSpPr txBox="1"/>
          <p:nvPr/>
        </p:nvSpPr>
        <p:spPr>
          <a:xfrm>
            <a:off x="822960" y="2743200"/>
            <a:ext cx="2971800" cy="777240"/>
          </a:xfrm>
          <a:prstGeom prst="rect">
            <a:avLst/>
          </a:prstGeom>
          <a:noFill/>
          <a:ln/>
        </p:spPr>
        <p:txBody>
          <a:bodyPr wrap="square" lIns="0" tIns="0" rIns="0" bIns="0" rtlCol="0" anchor="t"/>
          <a:lstStyle/>
          <a:p>
            <a:pPr marL="0" indent="0">
              <a:buNone/>
            </a:pPr>
            <a:r>
              <a:rPr lang="en-US" sz="1350" dirty="0">
                <a:solidFill>
                  <a:srgbClr val="3D4750"/>
                </a:solidFill>
                <a:latin typeface="Calibri" pitchFamily="34" charset="0"/>
                <a:ea typeface="Calibri" pitchFamily="34" charset="-122"/>
                <a:cs typeface="Calibri" pitchFamily="34" charset="-120"/>
              </a:rPr>
              <a:t>Tägliche Wasserstände (m) von Messstellen auf dem Gelände; 8 Messstellen mit Koordinaten.</a:t>
            </a:r>
            <a:endParaRPr lang="en-US" sz="1350" dirty="0"/>
          </a:p>
        </p:txBody>
      </p:sp>
      <p:sp>
        <p:nvSpPr>
          <p:cNvPr id="8" name="Shape 6"/>
          <p:cNvSpPr/>
          <p:nvPr/>
        </p:nvSpPr>
        <p:spPr>
          <a:xfrm>
            <a:off x="822960" y="3520440"/>
            <a:ext cx="2194560" cy="310896"/>
          </a:xfrm>
          <a:prstGeom prst="roundRect">
            <a:avLst>
              <a:gd name="adj" fmla="val 50000"/>
            </a:avLst>
          </a:prstGeom>
          <a:solidFill>
            <a:srgbClr val="0092D5"/>
          </a:solidFill>
          <a:ln w="12700">
            <a:solidFill>
              <a:srgbClr val="0092D5"/>
            </a:solidFill>
            <a:prstDash val="solid"/>
          </a:ln>
        </p:spPr>
        <p:txBody>
          <a:bodyPr/>
          <a:lstStyle/>
          <a:p>
            <a:endParaRPr lang="de-DE"/>
          </a:p>
        </p:txBody>
      </p:sp>
      <p:sp>
        <p:nvSpPr>
          <p:cNvPr id="9" name="Text 7"/>
          <p:cNvSpPr txBox="1"/>
          <p:nvPr/>
        </p:nvSpPr>
        <p:spPr>
          <a:xfrm>
            <a:off x="822960" y="3520440"/>
            <a:ext cx="21945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genutzt</a:t>
            </a:r>
            <a:endParaRPr lang="en-US" sz="1200" dirty="0"/>
          </a:p>
        </p:txBody>
      </p:sp>
      <p:sp>
        <p:nvSpPr>
          <p:cNvPr id="10" name="Shape 8"/>
          <p:cNvSpPr/>
          <p:nvPr/>
        </p:nvSpPr>
        <p:spPr>
          <a:xfrm>
            <a:off x="4251960" y="1828800"/>
            <a:ext cx="3520440" cy="2148840"/>
          </a:xfrm>
          <a:prstGeom prst="roundRect">
            <a:avLst>
              <a:gd name="adj" fmla="val 5106"/>
            </a:avLst>
          </a:prstGeom>
          <a:solidFill>
            <a:srgbClr val="EAF6FC"/>
          </a:solidFill>
          <a:ln w="12700">
            <a:solidFill>
              <a:srgbClr val="EAF6FC"/>
            </a:solidFill>
            <a:prstDash val="solid"/>
          </a:ln>
        </p:spPr>
        <p:txBody>
          <a:bodyPr/>
          <a:lstStyle/>
          <a:p>
            <a:endParaRPr lang="de-DE"/>
          </a:p>
        </p:txBody>
      </p:sp>
      <p:sp>
        <p:nvSpPr>
          <p:cNvPr id="11" name="Text 9"/>
          <p:cNvSpPr txBox="1"/>
          <p:nvPr/>
        </p:nvSpPr>
        <p:spPr>
          <a:xfrm>
            <a:off x="4526280" y="2057400"/>
            <a:ext cx="2971800" cy="365760"/>
          </a:xfrm>
          <a:prstGeom prst="rect">
            <a:avLst/>
          </a:prstGeom>
          <a:noFill/>
          <a:ln/>
        </p:spPr>
        <p:txBody>
          <a:bodyPr wrap="square" lIns="0" tIns="0" rIns="0" bIns="0" rtlCol="0" anchor="t"/>
          <a:lstStyle/>
          <a:p>
            <a:pPr marL="0" indent="0">
              <a:buNone/>
            </a:pPr>
            <a:r>
              <a:rPr lang="en-US" sz="1900" b="1" dirty="0">
                <a:solidFill>
                  <a:srgbClr val="0092D5"/>
                </a:solidFill>
                <a:latin typeface="Arial" pitchFamily="34" charset="0"/>
                <a:ea typeface="Arial" pitchFamily="34" charset="-122"/>
                <a:cs typeface="Arial" pitchFamily="34" charset="-120"/>
              </a:rPr>
              <a:t>DWD-Station Tegel</a:t>
            </a:r>
            <a:endParaRPr lang="en-US" sz="1900" dirty="0"/>
          </a:p>
        </p:txBody>
      </p:sp>
      <p:sp>
        <p:nvSpPr>
          <p:cNvPr id="12" name="Text 10"/>
          <p:cNvSpPr txBox="1"/>
          <p:nvPr/>
        </p:nvSpPr>
        <p:spPr>
          <a:xfrm>
            <a:off x="4526280" y="2423160"/>
            <a:ext cx="2971800" cy="274320"/>
          </a:xfrm>
          <a:prstGeom prst="rect">
            <a:avLst/>
          </a:prstGeom>
          <a:noFill/>
          <a:ln/>
        </p:spPr>
        <p:txBody>
          <a:bodyPr wrap="square" lIns="0" tIns="0" rIns="0" bIns="0" rtlCol="0" anchor="t"/>
          <a:lstStyle/>
          <a:p>
            <a:pPr marL="0" indent="0">
              <a:buNone/>
            </a:pPr>
            <a:r>
              <a:rPr lang="en-US" sz="1200" dirty="0">
                <a:solidFill>
                  <a:srgbClr val="5E6A74"/>
                </a:solidFill>
                <a:latin typeface="Calibri" pitchFamily="34" charset="0"/>
                <a:ea typeface="Calibri" pitchFamily="34" charset="-122"/>
                <a:cs typeface="Calibri" pitchFamily="34" charset="-120"/>
              </a:rPr>
              <a:t>Deutscher Wetterdienst</a:t>
            </a:r>
            <a:endParaRPr lang="en-US" sz="1200" dirty="0"/>
          </a:p>
        </p:txBody>
      </p:sp>
      <p:sp>
        <p:nvSpPr>
          <p:cNvPr id="13" name="Text 11"/>
          <p:cNvSpPr txBox="1"/>
          <p:nvPr/>
        </p:nvSpPr>
        <p:spPr>
          <a:xfrm>
            <a:off x="4526280" y="2743200"/>
            <a:ext cx="2971800" cy="777240"/>
          </a:xfrm>
          <a:prstGeom prst="rect">
            <a:avLst/>
          </a:prstGeom>
          <a:noFill/>
          <a:ln/>
        </p:spPr>
        <p:txBody>
          <a:bodyPr wrap="square" lIns="0" tIns="0" rIns="0" bIns="0" rtlCol="0" anchor="t"/>
          <a:lstStyle/>
          <a:p>
            <a:pPr marL="0" indent="0">
              <a:buNone/>
            </a:pPr>
            <a:r>
              <a:rPr lang="en-US" sz="1350" dirty="0">
                <a:solidFill>
                  <a:srgbClr val="3D4750"/>
                </a:solidFill>
                <a:latin typeface="Calibri" pitchFamily="34" charset="0"/>
                <a:ea typeface="Calibri" pitchFamily="34" charset="-122"/>
                <a:cs typeface="Calibri" pitchFamily="34" charset="-120"/>
              </a:rPr>
              <a:t>Stationsdaten für Tegel liegen nur bis 2021 vor – passt nicht zu unserem Zeitraum 2025–2026.</a:t>
            </a:r>
            <a:endParaRPr lang="en-US" sz="1350" dirty="0"/>
          </a:p>
        </p:txBody>
      </p:sp>
      <p:sp>
        <p:nvSpPr>
          <p:cNvPr id="14" name="Shape 12"/>
          <p:cNvSpPr/>
          <p:nvPr/>
        </p:nvSpPr>
        <p:spPr>
          <a:xfrm>
            <a:off x="4526280" y="3520440"/>
            <a:ext cx="2194560" cy="310896"/>
          </a:xfrm>
          <a:prstGeom prst="roundRect">
            <a:avLst>
              <a:gd name="adj" fmla="val 50000"/>
            </a:avLst>
          </a:prstGeom>
          <a:solidFill>
            <a:srgbClr val="0092D5"/>
          </a:solidFill>
          <a:ln w="12700">
            <a:solidFill>
              <a:srgbClr val="0092D5"/>
            </a:solidFill>
            <a:prstDash val="solid"/>
          </a:ln>
        </p:spPr>
        <p:txBody>
          <a:bodyPr/>
          <a:lstStyle/>
          <a:p>
            <a:endParaRPr lang="de-DE"/>
          </a:p>
        </p:txBody>
      </p:sp>
      <p:sp>
        <p:nvSpPr>
          <p:cNvPr id="15" name="Text 13"/>
          <p:cNvSpPr txBox="1"/>
          <p:nvPr/>
        </p:nvSpPr>
        <p:spPr>
          <a:xfrm>
            <a:off x="4526280" y="3520440"/>
            <a:ext cx="2194560" cy="310896"/>
          </a:xfrm>
          <a:prstGeom prst="rect">
            <a:avLst/>
          </a:prstGeom>
          <a:solidFill>
            <a:schemeClr val="accent2">
              <a:lumMod val="60000"/>
              <a:lumOff val="40000"/>
            </a:schemeClr>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nicht nutzbar</a:t>
            </a:r>
            <a:endParaRPr lang="en-US" sz="1200" dirty="0"/>
          </a:p>
        </p:txBody>
      </p:sp>
      <p:sp>
        <p:nvSpPr>
          <p:cNvPr id="16" name="Shape 14"/>
          <p:cNvSpPr/>
          <p:nvPr/>
        </p:nvSpPr>
        <p:spPr>
          <a:xfrm>
            <a:off x="7955280" y="1828800"/>
            <a:ext cx="3520440" cy="2148840"/>
          </a:xfrm>
          <a:prstGeom prst="roundRect">
            <a:avLst>
              <a:gd name="adj" fmla="val 5106"/>
            </a:avLst>
          </a:prstGeom>
          <a:solidFill>
            <a:srgbClr val="EAF6FC"/>
          </a:solidFill>
          <a:ln w="12700">
            <a:solidFill>
              <a:srgbClr val="EAF6FC"/>
            </a:solidFill>
            <a:prstDash val="solid"/>
          </a:ln>
        </p:spPr>
        <p:txBody>
          <a:bodyPr/>
          <a:lstStyle/>
          <a:p>
            <a:endParaRPr lang="de-DE"/>
          </a:p>
        </p:txBody>
      </p:sp>
      <p:sp>
        <p:nvSpPr>
          <p:cNvPr id="17" name="Text 15"/>
          <p:cNvSpPr txBox="1"/>
          <p:nvPr/>
        </p:nvSpPr>
        <p:spPr>
          <a:xfrm>
            <a:off x="8229600" y="2057400"/>
            <a:ext cx="2971800" cy="365760"/>
          </a:xfrm>
          <a:prstGeom prst="rect">
            <a:avLst/>
          </a:prstGeom>
          <a:noFill/>
          <a:ln/>
        </p:spPr>
        <p:txBody>
          <a:bodyPr wrap="square" lIns="0" tIns="0" rIns="0" bIns="0" rtlCol="0" anchor="t"/>
          <a:lstStyle/>
          <a:p>
            <a:pPr marL="0" indent="0">
              <a:buNone/>
            </a:pPr>
            <a:r>
              <a:rPr lang="en-US" sz="1900" b="1" dirty="0">
                <a:solidFill>
                  <a:srgbClr val="0092D5"/>
                </a:solidFill>
                <a:latin typeface="Arial" pitchFamily="34" charset="0"/>
                <a:ea typeface="Arial" pitchFamily="34" charset="-122"/>
                <a:cs typeface="Arial" pitchFamily="34" charset="-120"/>
              </a:rPr>
              <a:t>HYRAS-DE-PR</a:t>
            </a:r>
            <a:endParaRPr lang="en-US" sz="1900" dirty="0"/>
          </a:p>
        </p:txBody>
      </p:sp>
      <p:sp>
        <p:nvSpPr>
          <p:cNvPr id="18" name="Text 16"/>
          <p:cNvSpPr txBox="1"/>
          <p:nvPr/>
        </p:nvSpPr>
        <p:spPr>
          <a:xfrm>
            <a:off x="8229600" y="2423160"/>
            <a:ext cx="2971800" cy="274320"/>
          </a:xfrm>
          <a:prstGeom prst="rect">
            <a:avLst/>
          </a:prstGeom>
          <a:noFill/>
          <a:ln/>
        </p:spPr>
        <p:txBody>
          <a:bodyPr wrap="square" lIns="0" tIns="0" rIns="0" bIns="0" rtlCol="0" anchor="t"/>
          <a:lstStyle/>
          <a:p>
            <a:pPr marL="0" indent="0">
              <a:buNone/>
            </a:pPr>
            <a:r>
              <a:rPr lang="en-US" sz="1200" dirty="0">
                <a:solidFill>
                  <a:srgbClr val="5E6A74"/>
                </a:solidFill>
                <a:latin typeface="Calibri" pitchFamily="34" charset="0"/>
                <a:ea typeface="Calibri" pitchFamily="34" charset="-122"/>
                <a:cs typeface="Calibri" pitchFamily="34" charset="-120"/>
              </a:rPr>
              <a:t>Deutscher Wetterdienst</a:t>
            </a:r>
            <a:endParaRPr lang="en-US" sz="1200" dirty="0"/>
          </a:p>
        </p:txBody>
      </p:sp>
      <p:sp>
        <p:nvSpPr>
          <p:cNvPr id="19" name="Text 17"/>
          <p:cNvSpPr txBox="1"/>
          <p:nvPr/>
        </p:nvSpPr>
        <p:spPr>
          <a:xfrm>
            <a:off x="8229600" y="2743200"/>
            <a:ext cx="2971800" cy="777240"/>
          </a:xfrm>
          <a:prstGeom prst="rect">
            <a:avLst/>
          </a:prstGeom>
          <a:noFill/>
          <a:ln/>
        </p:spPr>
        <p:txBody>
          <a:bodyPr wrap="square" lIns="0" tIns="0" rIns="0" bIns="0" rtlCol="0" anchor="t"/>
          <a:lstStyle/>
          <a:p>
            <a:pPr marL="0" indent="0">
              <a:buNone/>
            </a:pPr>
            <a:r>
              <a:rPr lang="en-US" sz="1350" dirty="0">
                <a:solidFill>
                  <a:srgbClr val="3D4750"/>
                </a:solidFill>
                <a:latin typeface="Calibri" pitchFamily="34" charset="0"/>
                <a:ea typeface="Calibri" pitchFamily="34" charset="-122"/>
                <a:cs typeface="Calibri" pitchFamily="34" charset="-120"/>
              </a:rPr>
              <a:t>Tägliches Niederschlagsraster (1 × 1 km), Rasterpunkt Tegel – durchgehend bis 22.09.2026.</a:t>
            </a:r>
            <a:endParaRPr lang="en-US" sz="1350" dirty="0"/>
          </a:p>
        </p:txBody>
      </p:sp>
      <p:sp>
        <p:nvSpPr>
          <p:cNvPr id="20" name="Shape 18"/>
          <p:cNvSpPr/>
          <p:nvPr/>
        </p:nvSpPr>
        <p:spPr>
          <a:xfrm>
            <a:off x="8229600" y="3520440"/>
            <a:ext cx="2194560" cy="310896"/>
          </a:xfrm>
          <a:prstGeom prst="roundRect">
            <a:avLst>
              <a:gd name="adj" fmla="val 50000"/>
            </a:avLst>
          </a:prstGeom>
          <a:solidFill>
            <a:srgbClr val="0092D5"/>
          </a:solidFill>
          <a:ln w="12700">
            <a:solidFill>
              <a:srgbClr val="0092D5"/>
            </a:solidFill>
            <a:prstDash val="solid"/>
          </a:ln>
        </p:spPr>
        <p:txBody>
          <a:bodyPr/>
          <a:lstStyle/>
          <a:p>
            <a:endParaRPr lang="de-DE"/>
          </a:p>
        </p:txBody>
      </p:sp>
      <p:sp>
        <p:nvSpPr>
          <p:cNvPr id="21" name="Text 19"/>
          <p:cNvSpPr txBox="1"/>
          <p:nvPr/>
        </p:nvSpPr>
        <p:spPr>
          <a:xfrm>
            <a:off x="8229600" y="3520440"/>
            <a:ext cx="21945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Ersatz für die Station</a:t>
            </a:r>
            <a:endParaRPr lang="en-US" sz="1200" dirty="0"/>
          </a:p>
        </p:txBody>
      </p:sp>
      <p:sp>
        <p:nvSpPr>
          <p:cNvPr id="22" name="Text 20"/>
          <p:cNvSpPr txBox="1"/>
          <p:nvPr/>
        </p:nvSpPr>
        <p:spPr>
          <a:xfrm>
            <a:off x="548640" y="4206240"/>
            <a:ext cx="5486400" cy="320040"/>
          </a:xfrm>
          <a:prstGeom prst="rect">
            <a:avLst/>
          </a:prstGeom>
          <a:noFill/>
          <a:ln/>
        </p:spPr>
        <p:txBody>
          <a:bodyPr wrap="square" lIns="0" tIns="0" rIns="0" bIns="0" rtlCol="0" anchor="t"/>
          <a:lstStyle/>
          <a:p>
            <a:pPr marL="0" indent="0">
              <a:buNone/>
            </a:pPr>
            <a:r>
              <a:rPr lang="en-US" sz="1800" b="1" dirty="0">
                <a:solidFill>
                  <a:srgbClr val="15191C"/>
                </a:solidFill>
                <a:latin typeface="Arial" pitchFamily="34" charset="0"/>
                <a:ea typeface="Arial" pitchFamily="34" charset="-122"/>
                <a:cs typeface="Arial" pitchFamily="34" charset="-120"/>
              </a:rPr>
              <a:t>Probleme und Lösungen</a:t>
            </a:r>
            <a:endParaRPr lang="en-US" sz="1800" dirty="0"/>
          </a:p>
        </p:txBody>
      </p:sp>
      <p:graphicFrame>
        <p:nvGraphicFramePr>
          <p:cNvPr id="23" name="Table 0"/>
          <p:cNvGraphicFramePr>
            <a:graphicFrameLocks noGrp="1"/>
          </p:cNvGraphicFramePr>
          <p:nvPr>
            <p:extLst>
              <p:ext uri="{D42A27DB-BD31-4B8C-83A1-F6EECF244321}">
                <p14:modId xmlns:p14="http://schemas.microsoft.com/office/powerpoint/2010/main" val="1232399716"/>
              </p:ext>
            </p:extLst>
          </p:nvPr>
        </p:nvGraphicFramePr>
        <p:xfrm>
          <a:off x="548640" y="4572000"/>
          <a:ext cx="11091672" cy="1371600"/>
        </p:xfrm>
        <a:graphic>
          <a:graphicData uri="http://schemas.openxmlformats.org/drawingml/2006/table">
            <a:tbl>
              <a:tblPr/>
              <a:tblGrid>
                <a:gridCol w="5852160">
                  <a:extLst>
                    <a:ext uri="{9D8B030D-6E8A-4147-A177-3AD203B41FA5}">
                      <a16:colId xmlns:a16="http://schemas.microsoft.com/office/drawing/2014/main" val="20000"/>
                    </a:ext>
                  </a:extLst>
                </a:gridCol>
                <a:gridCol w="5239512">
                  <a:extLst>
                    <a:ext uri="{9D8B030D-6E8A-4147-A177-3AD203B41FA5}">
                      <a16:colId xmlns:a16="http://schemas.microsoft.com/office/drawing/2014/main" val="20001"/>
                    </a:ext>
                  </a:extLst>
                </a:gridCol>
              </a:tblGrid>
              <a:tr h="27432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Problem</a:t>
                      </a:r>
                      <a:endParaRPr lang="en-US" sz="1250" dirty="0">
                        <a:latin typeface="Calibri" charset="0"/>
                        <a:ea typeface="Calibri" charset="0"/>
                        <a:cs typeface="Calibri" charset="0"/>
                      </a:endParaRPr>
                    </a:p>
                  </a:txBody>
                  <a:tcPr marL="76200" marR="76200" marT="25400" marB="25400">
                    <a:lnL w="6350" cap="flat" cmpd="sng" algn="ctr">
                      <a:solidFill>
                        <a:srgbClr val="D8DCDF"/>
                      </a:solidFill>
                      <a:prstDash val="solid"/>
                      <a:round/>
                      <a:headEnd type="none" w="med" len="med"/>
                      <a:tailEnd type="none" w="med" len="med"/>
                    </a:lnL>
                    <a:lnR w="6350" cap="flat" cmpd="sng" algn="ctr">
                      <a:solidFill>
                        <a:srgbClr val="D8DCDF"/>
                      </a:solidFill>
                      <a:prstDash val="solid"/>
                      <a:round/>
                      <a:headEnd type="none" w="med" len="med"/>
                      <a:tailEnd type="none" w="med" len="med"/>
                    </a:lnR>
                    <a:lnT w="6350" cap="flat" cmpd="sng" algn="ctr">
                      <a:solidFill>
                        <a:srgbClr val="D8DCDF"/>
                      </a:solidFill>
                      <a:prstDash val="solid"/>
                      <a:round/>
                      <a:headEnd type="none" w="med" len="med"/>
                      <a:tailEnd type="none" w="med" len="med"/>
                    </a:lnT>
                    <a:lnB w="6350" cap="flat" cmpd="sng" algn="ctr">
                      <a:solidFill>
                        <a:srgbClr val="D8DCDF"/>
                      </a:solidFill>
                      <a:prstDash val="solid"/>
                      <a:round/>
                      <a:headEnd type="none" w="med" len="med"/>
                      <a:tailEnd type="none" w="med" len="med"/>
                    </a:lnB>
                    <a:solidFill>
                      <a:srgbClr val="0092D5"/>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Lösung</a:t>
                      </a:r>
                      <a:endParaRPr lang="en-US" sz="1250" dirty="0">
                        <a:latin typeface="Calibri" charset="0"/>
                        <a:ea typeface="Calibri" charset="0"/>
                        <a:cs typeface="Calibri" charset="0"/>
                      </a:endParaRPr>
                    </a:p>
                  </a:txBody>
                  <a:tcPr marL="76200" marR="76200" marT="25400" marB="25400">
                    <a:lnL w="6350" cap="flat" cmpd="sng" algn="ctr">
                      <a:solidFill>
                        <a:srgbClr val="D8DCDF"/>
                      </a:solidFill>
                      <a:prstDash val="solid"/>
                      <a:round/>
                      <a:headEnd type="none" w="med" len="med"/>
                      <a:tailEnd type="none" w="med" len="med"/>
                    </a:lnL>
                    <a:lnR w="6350" cap="flat" cmpd="sng" algn="ctr">
                      <a:solidFill>
                        <a:srgbClr val="D8DCDF"/>
                      </a:solidFill>
                      <a:prstDash val="solid"/>
                      <a:round/>
                      <a:headEnd type="none" w="med" len="med"/>
                      <a:tailEnd type="none" w="med" len="med"/>
                    </a:lnR>
                    <a:lnT w="6350" cap="flat" cmpd="sng" algn="ctr">
                      <a:solidFill>
                        <a:srgbClr val="D8DCDF"/>
                      </a:solidFill>
                      <a:prstDash val="solid"/>
                      <a:round/>
                      <a:headEnd type="none" w="med" len="med"/>
                      <a:tailEnd type="none" w="med" len="med"/>
                    </a:lnT>
                    <a:lnB w="6350" cap="flat" cmpd="sng" algn="ctr">
                      <a:solidFill>
                        <a:srgbClr val="D8DCDF"/>
                      </a:solidFill>
                      <a:prstDash val="solid"/>
                      <a:round/>
                      <a:headEnd type="none" w="med" len="med"/>
                      <a:tailEnd type="none" w="med" len="med"/>
                    </a:lnB>
                    <a:solidFill>
                      <a:srgbClr val="0092D5"/>
                    </a:solidFill>
                  </a:tcPr>
                </a:tc>
                <a:extLst>
                  <a:ext uri="{0D108BD9-81ED-4DB2-BD59-A6C34878D82A}">
                    <a16:rowId xmlns:a16="http://schemas.microsoft.com/office/drawing/2014/main" val="10000"/>
                  </a:ext>
                </a:extLst>
              </a:tr>
              <a:tr h="274320">
                <a:tc>
                  <a:txBody>
                    <a:bodyPr/>
                    <a:lstStyle/>
                    <a:p>
                      <a:pPr marL="0" indent="0">
                        <a:buNone/>
                      </a:pPr>
                      <a:r>
                        <a:rPr lang="en-US" sz="1250" dirty="0">
                          <a:solidFill>
                            <a:srgbClr val="15191C"/>
                          </a:solidFill>
                          <a:latin typeface="Calibri" pitchFamily="34" charset="0"/>
                          <a:ea typeface="Calibri" pitchFamily="34" charset="-122"/>
                          <a:cs typeface="Calibri" pitchFamily="34" charset="-120"/>
                        </a:rPr>
                        <a:t>Station endet 2021</a:t>
                      </a:r>
                      <a:endParaRPr lang="en-US" sz="1250" dirty="0">
                        <a:latin typeface="Calibri" charset="0"/>
                        <a:ea typeface="Calibri" charset="0"/>
                        <a:cs typeface="Calibri" charset="0"/>
                      </a:endParaRPr>
                    </a:p>
                  </a:txBody>
                  <a:tcPr marL="76200" marR="76200" marT="25400" marB="25400">
                    <a:lnL w="6350" cap="flat" cmpd="sng" algn="ctr">
                      <a:solidFill>
                        <a:srgbClr val="D8DCDF"/>
                      </a:solidFill>
                      <a:prstDash val="solid"/>
                      <a:round/>
                      <a:headEnd type="none" w="med" len="med"/>
                      <a:tailEnd type="none" w="med" len="med"/>
                    </a:lnL>
                    <a:lnR w="6350" cap="flat" cmpd="sng" algn="ctr">
                      <a:solidFill>
                        <a:srgbClr val="D8DCDF"/>
                      </a:solidFill>
                      <a:prstDash val="solid"/>
                      <a:round/>
                      <a:headEnd type="none" w="med" len="med"/>
                      <a:tailEnd type="none" w="med" len="med"/>
                    </a:lnR>
                    <a:lnT w="6350" cap="flat" cmpd="sng" algn="ctr">
                      <a:solidFill>
                        <a:srgbClr val="D8DCDF"/>
                      </a:solidFill>
                      <a:prstDash val="solid"/>
                      <a:round/>
                      <a:headEnd type="none" w="med" len="med"/>
                      <a:tailEnd type="none" w="med" len="med"/>
                    </a:lnT>
                    <a:lnB w="6350" cap="flat" cmpd="sng" algn="ctr">
                      <a:solidFill>
                        <a:srgbClr val="D8DCDF"/>
                      </a:solidFill>
                      <a:prstDash val="solid"/>
                      <a:round/>
                      <a:headEnd type="none" w="med" len="med"/>
                      <a:tailEnd type="none" w="med" len="med"/>
                    </a:lnB>
                    <a:solidFill>
                      <a:srgbClr val="FFFFFF"/>
                    </a:solidFill>
                  </a:tcPr>
                </a:tc>
                <a:tc>
                  <a:txBody>
                    <a:bodyPr/>
                    <a:lstStyle/>
                    <a:p>
                      <a:pPr marL="0" indent="0">
                        <a:buNone/>
                      </a:pPr>
                      <a:r>
                        <a:rPr lang="en-US" sz="1250" dirty="0">
                          <a:solidFill>
                            <a:srgbClr val="15191C"/>
                          </a:solidFill>
                          <a:latin typeface="Calibri" pitchFamily="34" charset="0"/>
                          <a:ea typeface="Calibri" pitchFamily="34" charset="-122"/>
                          <a:cs typeface="Calibri" pitchFamily="34" charset="-120"/>
                        </a:rPr>
                        <a:t>HYRAS-Rasterdaten statt Stationsdaten</a:t>
                      </a:r>
                      <a:endParaRPr lang="en-US" sz="1250" dirty="0">
                        <a:latin typeface="Calibri" charset="0"/>
                        <a:ea typeface="Calibri" charset="0"/>
                        <a:cs typeface="Calibri" charset="0"/>
                      </a:endParaRPr>
                    </a:p>
                  </a:txBody>
                  <a:tcPr marL="76200" marR="76200" marT="25400" marB="25400">
                    <a:lnL w="6350" cap="flat" cmpd="sng" algn="ctr">
                      <a:solidFill>
                        <a:srgbClr val="D8DCDF"/>
                      </a:solidFill>
                      <a:prstDash val="solid"/>
                      <a:round/>
                      <a:headEnd type="none" w="med" len="med"/>
                      <a:tailEnd type="none" w="med" len="med"/>
                    </a:lnL>
                    <a:lnR w="6350" cap="flat" cmpd="sng" algn="ctr">
                      <a:solidFill>
                        <a:srgbClr val="D8DCDF"/>
                      </a:solidFill>
                      <a:prstDash val="solid"/>
                      <a:round/>
                      <a:headEnd type="none" w="med" len="med"/>
                      <a:tailEnd type="none" w="med" len="med"/>
                    </a:lnR>
                    <a:lnT w="6350" cap="flat" cmpd="sng" algn="ctr">
                      <a:solidFill>
                        <a:srgbClr val="D8DCDF"/>
                      </a:solidFill>
                      <a:prstDash val="solid"/>
                      <a:round/>
                      <a:headEnd type="none" w="med" len="med"/>
                      <a:tailEnd type="none" w="med" len="med"/>
                    </a:lnT>
                    <a:lnB w="6350" cap="flat" cmpd="sng" algn="ctr">
                      <a:solidFill>
                        <a:srgbClr val="D8DC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1250" dirty="0">
                          <a:solidFill>
                            <a:srgbClr val="15191C"/>
                          </a:solidFill>
                          <a:latin typeface="Calibri" pitchFamily="34" charset="0"/>
                          <a:ea typeface="Calibri" pitchFamily="34" charset="-122"/>
                          <a:cs typeface="Calibri" pitchFamily="34" charset="-120"/>
                        </a:rPr>
                        <a:t>Doppelte Tage in HYRAS (v6.0 und v6-1, 31 Tage abweichend)</a:t>
                      </a:r>
                      <a:endParaRPr lang="en-US" sz="1250" dirty="0">
                        <a:latin typeface="Calibri" charset="0"/>
                        <a:ea typeface="Calibri" charset="0"/>
                        <a:cs typeface="Calibri" charset="0"/>
                      </a:endParaRPr>
                    </a:p>
                  </a:txBody>
                  <a:tcPr marL="76200" marR="76200" marT="25400" marB="25400">
                    <a:lnL w="6350" cap="flat" cmpd="sng" algn="ctr">
                      <a:solidFill>
                        <a:srgbClr val="D8DCDF"/>
                      </a:solidFill>
                      <a:prstDash val="solid"/>
                      <a:round/>
                      <a:headEnd type="none" w="med" len="med"/>
                      <a:tailEnd type="none" w="med" len="med"/>
                    </a:lnL>
                    <a:lnR w="6350" cap="flat" cmpd="sng" algn="ctr">
                      <a:solidFill>
                        <a:srgbClr val="D8DCDF"/>
                      </a:solidFill>
                      <a:prstDash val="solid"/>
                      <a:round/>
                      <a:headEnd type="none" w="med" len="med"/>
                      <a:tailEnd type="none" w="med" len="med"/>
                    </a:lnR>
                    <a:lnT w="6350" cap="flat" cmpd="sng" algn="ctr">
                      <a:solidFill>
                        <a:srgbClr val="D8DCDF"/>
                      </a:solidFill>
                      <a:prstDash val="solid"/>
                      <a:round/>
                      <a:headEnd type="none" w="med" len="med"/>
                      <a:tailEnd type="none" w="med" len="med"/>
                    </a:lnT>
                    <a:lnB w="6350" cap="flat" cmpd="sng" algn="ctr">
                      <a:solidFill>
                        <a:srgbClr val="D8DCDF"/>
                      </a:solidFill>
                      <a:prstDash val="solid"/>
                      <a:round/>
                      <a:headEnd type="none" w="med" len="med"/>
                      <a:tailEnd type="none" w="med" len="med"/>
                    </a:lnB>
                    <a:solidFill>
                      <a:srgbClr val="EAF6FC"/>
                    </a:solidFill>
                  </a:tcPr>
                </a:tc>
                <a:tc>
                  <a:txBody>
                    <a:bodyPr/>
                    <a:lstStyle/>
                    <a:p>
                      <a:pPr marL="0" indent="0">
                        <a:buNone/>
                      </a:pPr>
                      <a:r>
                        <a:rPr lang="en-US" sz="1250" dirty="0">
                          <a:solidFill>
                            <a:srgbClr val="15191C"/>
                          </a:solidFill>
                          <a:latin typeface="Calibri" pitchFamily="34" charset="0"/>
                          <a:ea typeface="Calibri" pitchFamily="34" charset="-122"/>
                          <a:cs typeface="Calibri" pitchFamily="34" charset="-120"/>
                        </a:rPr>
                        <a:t>konsequent die neuere Version v6-1</a:t>
                      </a:r>
                      <a:endParaRPr lang="en-US" sz="1250" dirty="0">
                        <a:latin typeface="Calibri" charset="0"/>
                        <a:ea typeface="Calibri" charset="0"/>
                        <a:cs typeface="Calibri" charset="0"/>
                      </a:endParaRPr>
                    </a:p>
                  </a:txBody>
                  <a:tcPr marL="76200" marR="76200" marT="25400" marB="25400">
                    <a:lnL w="6350" cap="flat" cmpd="sng" algn="ctr">
                      <a:solidFill>
                        <a:srgbClr val="D8DCDF"/>
                      </a:solidFill>
                      <a:prstDash val="solid"/>
                      <a:round/>
                      <a:headEnd type="none" w="med" len="med"/>
                      <a:tailEnd type="none" w="med" len="med"/>
                    </a:lnL>
                    <a:lnR w="6350" cap="flat" cmpd="sng" algn="ctr">
                      <a:solidFill>
                        <a:srgbClr val="D8DCDF"/>
                      </a:solidFill>
                      <a:prstDash val="solid"/>
                      <a:round/>
                      <a:headEnd type="none" w="med" len="med"/>
                      <a:tailEnd type="none" w="med" len="med"/>
                    </a:lnR>
                    <a:lnT w="6350" cap="flat" cmpd="sng" algn="ctr">
                      <a:solidFill>
                        <a:srgbClr val="D8DCDF"/>
                      </a:solidFill>
                      <a:prstDash val="solid"/>
                      <a:round/>
                      <a:headEnd type="none" w="med" len="med"/>
                      <a:tailEnd type="none" w="med" len="med"/>
                    </a:lnT>
                    <a:lnB w="6350" cap="flat" cmpd="sng" algn="ctr">
                      <a:solidFill>
                        <a:srgbClr val="D8DCDF"/>
                      </a:solidFill>
                      <a:prstDash val="solid"/>
                      <a:round/>
                      <a:headEnd type="none" w="med" len="med"/>
                      <a:tailEnd type="none" w="med" len="med"/>
                    </a:lnB>
                    <a:solidFill>
                      <a:srgbClr val="EAF6FC"/>
                    </a:solidFill>
                  </a:tcPr>
                </a:tc>
                <a:extLst>
                  <a:ext uri="{0D108BD9-81ED-4DB2-BD59-A6C34878D82A}">
                    <a16:rowId xmlns:a16="http://schemas.microsoft.com/office/drawing/2014/main" val="10002"/>
                  </a:ext>
                </a:extLst>
              </a:tr>
              <a:tr h="274320">
                <a:tc>
                  <a:txBody>
                    <a:bodyPr/>
                    <a:lstStyle/>
                    <a:p>
                      <a:pPr marL="0" indent="0">
                        <a:buNone/>
                      </a:pPr>
                      <a:r>
                        <a:rPr lang="en-US" sz="1250" dirty="0">
                          <a:solidFill>
                            <a:srgbClr val="15191C"/>
                          </a:solidFill>
                          <a:latin typeface="Calibri" pitchFamily="34" charset="0"/>
                          <a:ea typeface="Calibri" pitchFamily="34" charset="-122"/>
                          <a:cs typeface="Calibri" pitchFamily="34" charset="-120"/>
                        </a:rPr>
                        <a:t>10 Zeitreihen, aber nur 8 Messstellen mit Koordinaten</a:t>
                      </a:r>
                      <a:endParaRPr lang="en-US" sz="1250" dirty="0">
                        <a:latin typeface="Calibri" charset="0"/>
                        <a:ea typeface="Calibri" charset="0"/>
                        <a:cs typeface="Calibri" charset="0"/>
                      </a:endParaRPr>
                    </a:p>
                  </a:txBody>
                  <a:tcPr marL="76200" marR="76200" marT="25400" marB="25400">
                    <a:lnL w="6350" cap="flat" cmpd="sng" algn="ctr">
                      <a:solidFill>
                        <a:srgbClr val="D8DCDF"/>
                      </a:solidFill>
                      <a:prstDash val="solid"/>
                      <a:round/>
                      <a:headEnd type="none" w="med" len="med"/>
                      <a:tailEnd type="none" w="med" len="med"/>
                    </a:lnL>
                    <a:lnR w="6350" cap="flat" cmpd="sng" algn="ctr">
                      <a:solidFill>
                        <a:srgbClr val="D8DCDF"/>
                      </a:solidFill>
                      <a:prstDash val="solid"/>
                      <a:round/>
                      <a:headEnd type="none" w="med" len="med"/>
                      <a:tailEnd type="none" w="med" len="med"/>
                    </a:lnR>
                    <a:lnT w="6350" cap="flat" cmpd="sng" algn="ctr">
                      <a:solidFill>
                        <a:srgbClr val="D8DCDF"/>
                      </a:solidFill>
                      <a:prstDash val="solid"/>
                      <a:round/>
                      <a:headEnd type="none" w="med" len="med"/>
                      <a:tailEnd type="none" w="med" len="med"/>
                    </a:lnT>
                    <a:lnB w="6350" cap="flat" cmpd="sng" algn="ctr">
                      <a:solidFill>
                        <a:srgbClr val="D8DCDF"/>
                      </a:solidFill>
                      <a:prstDash val="solid"/>
                      <a:round/>
                      <a:headEnd type="none" w="med" len="med"/>
                      <a:tailEnd type="none" w="med" len="med"/>
                    </a:lnB>
                    <a:solidFill>
                      <a:srgbClr val="FFFFFF"/>
                    </a:solidFill>
                  </a:tcPr>
                </a:tc>
                <a:tc>
                  <a:txBody>
                    <a:bodyPr/>
                    <a:lstStyle/>
                    <a:p>
                      <a:pPr marL="0" indent="0">
                        <a:buNone/>
                      </a:pPr>
                      <a:endParaRPr lang="en-US" sz="1250" dirty="0">
                        <a:latin typeface="Calibri" charset="0"/>
                        <a:ea typeface="Calibri" charset="0"/>
                        <a:cs typeface="Calibri" charset="0"/>
                      </a:endParaRPr>
                    </a:p>
                  </a:txBody>
                  <a:tcPr marL="76200" marR="76200" marT="25400" marB="25400">
                    <a:lnL w="6350" cap="flat" cmpd="sng" algn="ctr">
                      <a:solidFill>
                        <a:srgbClr val="D8DCDF"/>
                      </a:solidFill>
                      <a:prstDash val="solid"/>
                      <a:round/>
                      <a:headEnd type="none" w="med" len="med"/>
                      <a:tailEnd type="none" w="med" len="med"/>
                    </a:lnL>
                    <a:lnR w="6350" cap="flat" cmpd="sng" algn="ctr">
                      <a:solidFill>
                        <a:srgbClr val="D8DCDF"/>
                      </a:solidFill>
                      <a:prstDash val="solid"/>
                      <a:round/>
                      <a:headEnd type="none" w="med" len="med"/>
                      <a:tailEnd type="none" w="med" len="med"/>
                    </a:lnR>
                    <a:lnT w="6350" cap="flat" cmpd="sng" algn="ctr">
                      <a:solidFill>
                        <a:srgbClr val="D8DCDF"/>
                      </a:solidFill>
                      <a:prstDash val="solid"/>
                      <a:round/>
                      <a:headEnd type="none" w="med" len="med"/>
                      <a:tailEnd type="none" w="med" len="med"/>
                    </a:lnT>
                    <a:lnB w="6350" cap="flat" cmpd="sng" algn="ctr">
                      <a:solidFill>
                        <a:srgbClr val="D8DC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buNone/>
                      </a:pPr>
                      <a:r>
                        <a:rPr lang="en-US" sz="1250" dirty="0">
                          <a:solidFill>
                            <a:srgbClr val="15191C"/>
                          </a:solidFill>
                          <a:latin typeface="Calibri" pitchFamily="34" charset="0"/>
                          <a:ea typeface="Calibri" pitchFamily="34" charset="-122"/>
                          <a:cs typeface="Calibri" pitchFamily="34" charset="-120"/>
                        </a:rPr>
                        <a:t>Einzelne Messlücken, eine extrem schwankende Messstelle</a:t>
                      </a:r>
                      <a:endParaRPr lang="en-US" sz="1250" dirty="0">
                        <a:latin typeface="Calibri" charset="0"/>
                        <a:ea typeface="Calibri" charset="0"/>
                        <a:cs typeface="Calibri" charset="0"/>
                      </a:endParaRPr>
                    </a:p>
                  </a:txBody>
                  <a:tcPr marL="76200" marR="76200" marT="25400" marB="25400">
                    <a:lnL w="6350" cap="flat" cmpd="sng" algn="ctr">
                      <a:solidFill>
                        <a:srgbClr val="D8DCDF"/>
                      </a:solidFill>
                      <a:prstDash val="solid"/>
                      <a:round/>
                      <a:headEnd type="none" w="med" len="med"/>
                      <a:tailEnd type="none" w="med" len="med"/>
                    </a:lnL>
                    <a:lnR w="6350" cap="flat" cmpd="sng" algn="ctr">
                      <a:solidFill>
                        <a:srgbClr val="D8DCDF"/>
                      </a:solidFill>
                      <a:prstDash val="solid"/>
                      <a:round/>
                      <a:headEnd type="none" w="med" len="med"/>
                      <a:tailEnd type="none" w="med" len="med"/>
                    </a:lnR>
                    <a:lnT w="6350" cap="flat" cmpd="sng" algn="ctr">
                      <a:solidFill>
                        <a:srgbClr val="D8DCDF"/>
                      </a:solidFill>
                      <a:prstDash val="solid"/>
                      <a:round/>
                      <a:headEnd type="none" w="med" len="med"/>
                      <a:tailEnd type="none" w="med" len="med"/>
                    </a:lnT>
                    <a:lnB w="6350" cap="flat" cmpd="sng" algn="ctr">
                      <a:solidFill>
                        <a:srgbClr val="D8DCDF"/>
                      </a:solidFill>
                      <a:prstDash val="solid"/>
                      <a:round/>
                      <a:headEnd type="none" w="med" len="med"/>
                      <a:tailEnd type="none" w="med" len="med"/>
                    </a:lnB>
                    <a:solidFill>
                      <a:srgbClr val="EAF6FC"/>
                    </a:solidFill>
                  </a:tcPr>
                </a:tc>
                <a:tc>
                  <a:txBody>
                    <a:bodyPr/>
                    <a:lstStyle/>
                    <a:p>
                      <a:pPr marL="0" indent="0">
                        <a:buNone/>
                      </a:pPr>
                      <a:endParaRPr lang="en-US" sz="1250" dirty="0">
                        <a:latin typeface="Calibri" charset="0"/>
                        <a:ea typeface="Calibri" charset="0"/>
                        <a:cs typeface="Calibri" charset="0"/>
                      </a:endParaRPr>
                    </a:p>
                  </a:txBody>
                  <a:tcPr marL="76200" marR="76200" marT="25400" marB="25400">
                    <a:lnL w="6350" cap="flat" cmpd="sng" algn="ctr">
                      <a:solidFill>
                        <a:srgbClr val="D8DCDF"/>
                      </a:solidFill>
                      <a:prstDash val="solid"/>
                      <a:round/>
                      <a:headEnd type="none" w="med" len="med"/>
                      <a:tailEnd type="none" w="med" len="med"/>
                    </a:lnL>
                    <a:lnR w="6350" cap="flat" cmpd="sng" algn="ctr">
                      <a:solidFill>
                        <a:srgbClr val="D8DCDF"/>
                      </a:solidFill>
                      <a:prstDash val="solid"/>
                      <a:round/>
                      <a:headEnd type="none" w="med" len="med"/>
                      <a:tailEnd type="none" w="med" len="med"/>
                    </a:lnR>
                    <a:lnT w="6350" cap="flat" cmpd="sng" algn="ctr">
                      <a:solidFill>
                        <a:srgbClr val="D8DCDF"/>
                      </a:solidFill>
                      <a:prstDash val="solid"/>
                      <a:round/>
                      <a:headEnd type="none" w="med" len="med"/>
                      <a:tailEnd type="none" w="med" len="med"/>
                    </a:lnT>
                    <a:lnB w="6350" cap="flat" cmpd="sng" algn="ctr">
                      <a:solidFill>
                        <a:srgbClr val="D8DCDF"/>
                      </a:solidFill>
                      <a:prstDash val="solid"/>
                      <a:round/>
                      <a:headEnd type="none" w="med" len="med"/>
                      <a:tailEnd type="none" w="med" len="med"/>
                    </a:lnB>
                    <a:solidFill>
                      <a:srgbClr val="EAF6FC"/>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marL="0" indent="0">
              <a:buNone/>
            </a:pPr>
            <a:r>
              <a:rPr lang="en-US" sz="1200" b="1" kern="0" spc="300" dirty="0">
                <a:solidFill>
                  <a:srgbClr val="5E6A74"/>
                </a:solidFill>
                <a:latin typeface="Calibri" pitchFamily="34" charset="0"/>
                <a:ea typeface="Calibri" pitchFamily="34" charset="-122"/>
                <a:cs typeface="Calibri" pitchFamily="34" charset="-120"/>
              </a:rPr>
              <a:t>ERGEBNISSE · UNSER PRODUKT</a:t>
            </a:r>
            <a:endParaRPr lang="en-US" sz="12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marL="0" indent="0">
              <a:buNone/>
            </a:pPr>
            <a:r>
              <a:rPr lang="en-US" sz="3400" b="1" dirty="0">
                <a:solidFill>
                  <a:srgbClr val="15191C"/>
                </a:solidFill>
                <a:latin typeface="Arial" pitchFamily="34" charset="0"/>
                <a:ea typeface="Arial" pitchFamily="34" charset="-122"/>
                <a:cs typeface="Arial" pitchFamily="34" charset="-120"/>
              </a:rPr>
              <a:t>Die Data Story als interaktive Website</a:t>
            </a:r>
            <a:endParaRPr lang="en-US" sz="3400" dirty="0"/>
          </a:p>
        </p:txBody>
      </p:sp>
      <p:pic>
        <p:nvPicPr>
          <p:cNvPr id="4" name="Image 0" descr="Screenshot der Website: Titel „Vom Rollfeld zur Schwammstadt“ über einem Luftbild von Tegel"/>
          <p:cNvPicPr>
            <a:picLocks noChangeAspect="1"/>
          </p:cNvPicPr>
          <p:nvPr/>
        </p:nvPicPr>
        <p:blipFill>
          <a:blip r:embed="rId3"/>
          <a:stretch>
            <a:fillRect/>
          </a:stretch>
        </p:blipFill>
        <p:spPr>
          <a:xfrm>
            <a:off x="548640" y="1691640"/>
            <a:ext cx="6492240" cy="3988090"/>
          </a:xfrm>
          <a:prstGeom prst="rect">
            <a:avLst/>
          </a:prstGeom>
        </p:spPr>
      </p:pic>
      <p:sp>
        <p:nvSpPr>
          <p:cNvPr id="5" name="Text 2"/>
          <p:cNvSpPr txBox="1"/>
          <p:nvPr/>
        </p:nvSpPr>
        <p:spPr>
          <a:xfrm>
            <a:off x="548640" y="5771170"/>
            <a:ext cx="6492240" cy="274320"/>
          </a:xfrm>
          <a:prstGeom prst="rect">
            <a:avLst/>
          </a:prstGeom>
          <a:noFill/>
          <a:ln/>
        </p:spPr>
        <p:txBody>
          <a:bodyPr wrap="square" lIns="0" tIns="0" rIns="0" bIns="0" rtlCol="0" anchor="t"/>
          <a:lstStyle/>
          <a:p>
            <a:pPr marL="0" indent="0">
              <a:buNone/>
            </a:pPr>
            <a:r>
              <a:rPr lang="en-US" sz="1100" b="1" dirty="0">
                <a:solidFill>
                  <a:srgbClr val="3D4750"/>
                </a:solidFill>
                <a:latin typeface="Calibri" pitchFamily="34" charset="0"/>
                <a:ea typeface="Calibri" pitchFamily="34" charset="-122"/>
                <a:cs typeface="Calibri" pitchFamily="34" charset="-120"/>
              </a:rPr>
              <a:t>Desktop</a:t>
            </a:r>
            <a:endParaRPr lang="en-US" sz="1100" dirty="0"/>
          </a:p>
        </p:txBody>
      </p:sp>
      <p:pic>
        <p:nvPicPr>
          <p:cNvPr id="6" name="Image 1" descr="Screenshot der Website auf dem Smartphone: Kapitel „Es regnet kaum“ mit großen Zahlen"/>
          <p:cNvPicPr>
            <a:picLocks noChangeAspect="1"/>
          </p:cNvPicPr>
          <p:nvPr/>
        </p:nvPicPr>
        <p:blipFill>
          <a:blip r:embed="rId4"/>
          <a:stretch>
            <a:fillRect/>
          </a:stretch>
        </p:blipFill>
        <p:spPr>
          <a:xfrm>
            <a:off x="7315200" y="1691640"/>
            <a:ext cx="1783080" cy="3858768"/>
          </a:xfrm>
          <a:prstGeom prst="rect">
            <a:avLst/>
          </a:prstGeom>
        </p:spPr>
      </p:pic>
      <p:sp>
        <p:nvSpPr>
          <p:cNvPr id="7" name="Text 3"/>
          <p:cNvSpPr txBox="1"/>
          <p:nvPr/>
        </p:nvSpPr>
        <p:spPr>
          <a:xfrm>
            <a:off x="7315200" y="5641848"/>
            <a:ext cx="1965960" cy="274320"/>
          </a:xfrm>
          <a:prstGeom prst="rect">
            <a:avLst/>
          </a:prstGeom>
          <a:noFill/>
          <a:ln/>
        </p:spPr>
        <p:txBody>
          <a:bodyPr wrap="square" lIns="0" tIns="0" rIns="0" bIns="0" rtlCol="0" anchor="t"/>
          <a:lstStyle/>
          <a:p>
            <a:pPr marL="0" indent="0">
              <a:buNone/>
            </a:pPr>
            <a:r>
              <a:rPr lang="en-US" sz="1100" b="1" dirty="0">
                <a:solidFill>
                  <a:srgbClr val="3D4750"/>
                </a:solidFill>
                <a:latin typeface="Calibri" pitchFamily="34" charset="0"/>
                <a:ea typeface="Calibri" pitchFamily="34" charset="-122"/>
                <a:cs typeface="Calibri" pitchFamily="34" charset="-120"/>
              </a:rPr>
              <a:t>Smartphone</a:t>
            </a:r>
            <a:endParaRPr lang="en-US" sz="1100" dirty="0"/>
          </a:p>
        </p:txBody>
      </p:sp>
      <p:sp>
        <p:nvSpPr>
          <p:cNvPr id="8" name="Text 4"/>
          <p:cNvSpPr txBox="1"/>
          <p:nvPr/>
        </p:nvSpPr>
        <p:spPr>
          <a:xfrm>
            <a:off x="9418320" y="1691640"/>
            <a:ext cx="2221992" cy="292608"/>
          </a:xfrm>
          <a:prstGeom prst="rect">
            <a:avLst/>
          </a:prstGeom>
          <a:noFill/>
          <a:ln/>
        </p:spPr>
        <p:txBody>
          <a:bodyPr wrap="square" lIns="0" tIns="0" rIns="0" bIns="0" rtlCol="0" anchor="t"/>
          <a:lstStyle/>
          <a:p>
            <a:pPr marL="0" indent="0">
              <a:buNone/>
            </a:pPr>
            <a:r>
              <a:rPr lang="en-US" sz="1500" b="1" dirty="0">
                <a:solidFill>
                  <a:srgbClr val="0092D5"/>
                </a:solidFill>
                <a:latin typeface="Arial" pitchFamily="34" charset="0"/>
                <a:ea typeface="Arial" pitchFamily="34" charset="-122"/>
                <a:cs typeface="Arial" pitchFamily="34" charset="-120"/>
              </a:rPr>
              <a:t>22 Kapitel</a:t>
            </a:r>
            <a:endParaRPr lang="en-US" sz="1500" dirty="0"/>
          </a:p>
        </p:txBody>
      </p:sp>
      <p:sp>
        <p:nvSpPr>
          <p:cNvPr id="9" name="Text 5"/>
          <p:cNvSpPr txBox="1"/>
          <p:nvPr/>
        </p:nvSpPr>
        <p:spPr>
          <a:xfrm>
            <a:off x="9418320" y="1984248"/>
            <a:ext cx="2221992" cy="438912"/>
          </a:xfrm>
          <a:prstGeom prst="rect">
            <a:avLst/>
          </a:prstGeom>
          <a:noFill/>
          <a:ln/>
        </p:spPr>
        <p:txBody>
          <a:bodyPr wrap="square" lIns="0" tIns="0" rIns="0" bIns="0" rtlCol="0" anchor="t"/>
          <a:lstStyle/>
          <a:p>
            <a:pPr marL="0" indent="0">
              <a:buNone/>
            </a:pPr>
            <a:r>
              <a:rPr lang="en-US" sz="1200" dirty="0">
                <a:solidFill>
                  <a:srgbClr val="3D4750"/>
                </a:solidFill>
                <a:latin typeface="Calibri" pitchFamily="34" charset="0"/>
                <a:ea typeface="Calibri" pitchFamily="34" charset="-122"/>
                <a:cs typeface="Calibri" pitchFamily="34" charset="-120"/>
              </a:rPr>
              <a:t>von der Startbahn bis zur Schwammstadt</a:t>
            </a:r>
            <a:endParaRPr lang="en-US" sz="1200" dirty="0"/>
          </a:p>
        </p:txBody>
      </p:sp>
      <p:sp>
        <p:nvSpPr>
          <p:cNvPr id="12" name="Text 8"/>
          <p:cNvSpPr txBox="1"/>
          <p:nvPr/>
        </p:nvSpPr>
        <p:spPr>
          <a:xfrm>
            <a:off x="9418320" y="3264408"/>
            <a:ext cx="2221992" cy="292608"/>
          </a:xfrm>
          <a:prstGeom prst="rect">
            <a:avLst/>
          </a:prstGeom>
          <a:noFill/>
          <a:ln/>
        </p:spPr>
        <p:txBody>
          <a:bodyPr wrap="square" lIns="0" tIns="0" rIns="0" bIns="0" rtlCol="0" anchor="t"/>
          <a:lstStyle/>
          <a:p>
            <a:pPr marL="0" indent="0">
              <a:buNone/>
            </a:pPr>
            <a:r>
              <a:rPr lang="en-US" sz="1500" b="1" dirty="0">
                <a:solidFill>
                  <a:srgbClr val="0092D5"/>
                </a:solidFill>
                <a:latin typeface="Arial" pitchFamily="34" charset="0"/>
                <a:ea typeface="Arial" pitchFamily="34" charset="-122"/>
                <a:cs typeface="Arial" pitchFamily="34" charset="-120"/>
              </a:rPr>
              <a:t>Interaktiv</a:t>
            </a:r>
            <a:endParaRPr lang="en-US" sz="1500" dirty="0"/>
          </a:p>
        </p:txBody>
      </p:sp>
      <p:sp>
        <p:nvSpPr>
          <p:cNvPr id="13" name="Text 9"/>
          <p:cNvSpPr txBox="1"/>
          <p:nvPr/>
        </p:nvSpPr>
        <p:spPr>
          <a:xfrm>
            <a:off x="9418320" y="3557016"/>
            <a:ext cx="2221992" cy="438912"/>
          </a:xfrm>
          <a:prstGeom prst="rect">
            <a:avLst/>
          </a:prstGeom>
          <a:noFill/>
          <a:ln/>
        </p:spPr>
        <p:txBody>
          <a:bodyPr wrap="square" lIns="0" tIns="0" rIns="0" bIns="0" rtlCol="0" anchor="t"/>
          <a:lstStyle/>
          <a:p>
            <a:pPr marL="0" indent="0">
              <a:buNone/>
            </a:pPr>
            <a:r>
              <a:rPr lang="en-US" sz="1200" dirty="0">
                <a:solidFill>
                  <a:srgbClr val="3D4750"/>
                </a:solidFill>
                <a:latin typeface="Calibri" pitchFamily="34" charset="0"/>
                <a:ea typeface="Calibri" pitchFamily="34" charset="-122"/>
                <a:cs typeface="Calibri" pitchFamily="34" charset="-120"/>
              </a:rPr>
              <a:t>Karte, Scroll-Diagramm, Tooltips</a:t>
            </a:r>
            <a:endParaRPr lang="en-US" sz="1200" dirty="0"/>
          </a:p>
        </p:txBody>
      </p:sp>
      <p:sp>
        <p:nvSpPr>
          <p:cNvPr id="18" name="Text 14"/>
          <p:cNvSpPr txBox="1"/>
          <p:nvPr/>
        </p:nvSpPr>
        <p:spPr>
          <a:xfrm>
            <a:off x="548640" y="6355080"/>
            <a:ext cx="11091672" cy="274320"/>
          </a:xfrm>
          <a:prstGeom prst="rect">
            <a:avLst/>
          </a:prstGeom>
          <a:noFill/>
          <a:ln/>
        </p:spPr>
        <p:txBody>
          <a:bodyPr wrap="square" lIns="0" tIns="0" rIns="0" bIns="0" rtlCol="0" anchor="t"/>
          <a:lstStyle/>
          <a:p>
            <a:pPr marL="0" indent="0">
              <a:buNone/>
            </a:pPr>
            <a:r>
              <a:rPr lang="en-US" sz="1200" b="1" dirty="0">
                <a:solidFill>
                  <a:srgbClr val="15191C"/>
                </a:solidFill>
                <a:latin typeface="Calibri" pitchFamily="34" charset="0"/>
                <a:ea typeface="Calibri" pitchFamily="34" charset="-122"/>
                <a:cs typeface="Calibri" pitchFamily="34" charset="-120"/>
              </a:rPr>
              <a:t>Live-Demo: </a:t>
            </a:r>
            <a:r>
              <a:rPr lang="en-US" sz="1200" u="sng" dirty="0">
                <a:solidFill>
                  <a:srgbClr val="0092D5"/>
                </a:solidFill>
                <a:latin typeface="Calibri" pitchFamily="34" charset="0"/>
                <a:ea typeface="Calibri" pitchFamily="34" charset="-122"/>
                <a:cs typeface="Calibri" pitchFamily="34" charset="-120"/>
                <a:hlinkClick r:id="rId5" tooltip="Website im Browser öffnen">
                  <a:extLst>
                    <a:ext uri="{A12FA001-AC4F-418D-AE19-62706E023703}">
                      <ahyp:hlinkClr xmlns:ahyp="http://schemas.microsoft.com/office/drawing/2018/hyperlinkcolor" val="tx"/>
                    </a:ext>
                  </a:extLst>
                </a:hlinkClick>
              </a:rPr>
              <a:t>tegel-scrollytelling-online.html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5486400" cy="274320"/>
          </a:xfrm>
          <a:prstGeom prst="rect">
            <a:avLst/>
          </a:prstGeom>
          <a:noFill/>
          <a:ln/>
        </p:spPr>
        <p:txBody>
          <a:bodyPr wrap="square" lIns="0" tIns="0" rIns="0" bIns="0" rtlCol="0" anchor="t"/>
          <a:lstStyle/>
          <a:p>
            <a:pPr marL="0" indent="0">
              <a:buNone/>
            </a:pPr>
            <a:r>
              <a:rPr lang="en-US" sz="1200" b="1" kern="0" spc="300" dirty="0">
                <a:solidFill>
                  <a:srgbClr val="5E6A74"/>
                </a:solidFill>
                <a:latin typeface="Calibri" pitchFamily="34" charset="0"/>
                <a:ea typeface="Calibri" pitchFamily="34" charset="-122"/>
                <a:cs typeface="Calibri" pitchFamily="34" charset="-120"/>
              </a:rPr>
              <a:t>AUSBLICK</a:t>
            </a:r>
            <a:endParaRPr lang="en-US" sz="1200" dirty="0"/>
          </a:p>
        </p:txBody>
      </p:sp>
      <p:sp>
        <p:nvSpPr>
          <p:cNvPr id="3" name="Text 1"/>
          <p:cNvSpPr txBox="1"/>
          <p:nvPr/>
        </p:nvSpPr>
        <p:spPr>
          <a:xfrm>
            <a:off x="548640" y="777240"/>
            <a:ext cx="10972800" cy="822960"/>
          </a:xfrm>
          <a:prstGeom prst="rect">
            <a:avLst/>
          </a:prstGeom>
          <a:noFill/>
          <a:ln/>
        </p:spPr>
        <p:txBody>
          <a:bodyPr wrap="square" lIns="0" tIns="0" rIns="0" bIns="0" rtlCol="0" anchor="t"/>
          <a:lstStyle/>
          <a:p>
            <a:pPr marL="0" indent="0">
              <a:buNone/>
            </a:pPr>
            <a:r>
              <a:rPr lang="en-US" sz="3000" b="1" dirty="0">
                <a:solidFill>
                  <a:srgbClr val="15191C"/>
                </a:solidFill>
                <a:latin typeface="Arial" pitchFamily="34" charset="0"/>
                <a:ea typeface="Arial" pitchFamily="34" charset="-122"/>
                <a:cs typeface="Arial" pitchFamily="34" charset="-120"/>
              </a:rPr>
              <a:t>Messungen weiterführen – Tegel beim Wandel beobachten</a:t>
            </a:r>
            <a:endParaRPr lang="en-US" sz="3000" dirty="0"/>
          </a:p>
        </p:txBody>
      </p:sp>
      <p:grpSp>
        <p:nvGrpSpPr>
          <p:cNvPr id="22" name="Gruppieren 21">
            <a:extLst>
              <a:ext uri="{FF2B5EF4-FFF2-40B4-BE49-F238E27FC236}">
                <a16:creationId xmlns:a16="http://schemas.microsoft.com/office/drawing/2014/main" id="{BBA7D45F-3F68-2521-5E62-48D6CA782BA8}"/>
              </a:ext>
            </a:extLst>
          </p:cNvPr>
          <p:cNvGrpSpPr/>
          <p:nvPr/>
        </p:nvGrpSpPr>
        <p:grpSpPr>
          <a:xfrm>
            <a:off x="548640" y="1600200"/>
            <a:ext cx="11091672" cy="2514600"/>
            <a:chOff x="548640" y="1783080"/>
            <a:chExt cx="11091672" cy="2514600"/>
          </a:xfrm>
        </p:grpSpPr>
        <p:sp>
          <p:nvSpPr>
            <p:cNvPr id="4" name="Shape 2"/>
            <p:cNvSpPr/>
            <p:nvPr/>
          </p:nvSpPr>
          <p:spPr>
            <a:xfrm>
              <a:off x="548640" y="1783080"/>
              <a:ext cx="3566160" cy="2514600"/>
            </a:xfrm>
            <a:prstGeom prst="roundRect">
              <a:avLst>
                <a:gd name="adj" fmla="val 4364"/>
              </a:avLst>
            </a:prstGeom>
            <a:solidFill>
              <a:srgbClr val="EAF6FC"/>
            </a:solidFill>
            <a:ln w="12700">
              <a:solidFill>
                <a:srgbClr val="EAF6FC"/>
              </a:solidFill>
              <a:prstDash val="solid"/>
            </a:ln>
          </p:spPr>
          <p:txBody>
            <a:bodyPr/>
            <a:lstStyle/>
            <a:p>
              <a:endParaRPr lang="de-DE"/>
            </a:p>
          </p:txBody>
        </p:sp>
        <p:sp>
          <p:nvSpPr>
            <p:cNvPr id="5" name="Shape 3"/>
            <p:cNvSpPr/>
            <p:nvPr/>
          </p:nvSpPr>
          <p:spPr>
            <a:xfrm>
              <a:off x="822960" y="1965960"/>
              <a:ext cx="457200" cy="457200"/>
            </a:xfrm>
            <a:prstGeom prst="ellipse">
              <a:avLst/>
            </a:prstGeom>
            <a:solidFill>
              <a:srgbClr val="0092D5"/>
            </a:solidFill>
            <a:ln w="12700">
              <a:solidFill>
                <a:srgbClr val="0092D5"/>
              </a:solidFill>
              <a:prstDash val="solid"/>
            </a:ln>
          </p:spPr>
          <p:txBody>
            <a:bodyPr/>
            <a:lstStyle/>
            <a:p>
              <a:endParaRPr lang="de-DE"/>
            </a:p>
          </p:txBody>
        </p:sp>
        <p:sp>
          <p:nvSpPr>
            <p:cNvPr id="6" name="Text 4"/>
            <p:cNvSpPr txBox="1"/>
            <p:nvPr/>
          </p:nvSpPr>
          <p:spPr>
            <a:xfrm>
              <a:off x="822960" y="19659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822960" y="2560320"/>
              <a:ext cx="3017520" cy="365760"/>
            </a:xfrm>
            <a:prstGeom prst="rect">
              <a:avLst/>
            </a:prstGeom>
            <a:noFill/>
            <a:ln/>
          </p:spPr>
          <p:txBody>
            <a:bodyPr wrap="square" lIns="0" tIns="0" rIns="0" bIns="0" rtlCol="0" anchor="t"/>
            <a:lstStyle/>
            <a:p>
              <a:pPr marL="0" indent="0">
                <a:buNone/>
              </a:pPr>
              <a:r>
                <a:rPr lang="en-US" sz="1600" b="1" dirty="0">
                  <a:solidFill>
                    <a:srgbClr val="0092D5"/>
                  </a:solidFill>
                  <a:latin typeface="Arial" pitchFamily="34" charset="0"/>
                  <a:ea typeface="Arial" pitchFamily="34" charset="-122"/>
                  <a:cs typeface="Arial" pitchFamily="34" charset="-120"/>
                </a:rPr>
                <a:t>Über mehrere Jahre messen</a:t>
              </a:r>
              <a:endParaRPr lang="en-US" sz="1600" dirty="0"/>
            </a:p>
          </p:txBody>
        </p:sp>
        <p:sp>
          <p:nvSpPr>
            <p:cNvPr id="8" name="Text 6"/>
            <p:cNvSpPr txBox="1"/>
            <p:nvPr/>
          </p:nvSpPr>
          <p:spPr>
            <a:xfrm>
              <a:off x="822960" y="2971800"/>
              <a:ext cx="3017520" cy="1234440"/>
            </a:xfrm>
            <a:prstGeom prst="rect">
              <a:avLst/>
            </a:prstGeom>
            <a:noFill/>
            <a:ln/>
          </p:spPr>
          <p:txBody>
            <a:bodyPr wrap="square" lIns="0" tIns="0" rIns="0" bIns="0" rtlCol="0" anchor="t"/>
            <a:lstStyle/>
            <a:p>
              <a:pPr marL="0" indent="0">
                <a:buNone/>
              </a:pPr>
              <a:r>
                <a:rPr lang="en-US" sz="1300" dirty="0">
                  <a:solidFill>
                    <a:srgbClr val="3D4750"/>
                  </a:solidFill>
                  <a:latin typeface="Calibri" pitchFamily="34" charset="0"/>
                  <a:ea typeface="Calibri" pitchFamily="34" charset="-122"/>
                  <a:cs typeface="Calibri" pitchFamily="34" charset="-120"/>
                </a:rPr>
                <a:t>Starke Regenphasen fallen häufig mit einem späteren Anstieg des Grundwassers zusammen – aber nicht nach jedem Regen gleich. Deshalb sollten die Messungen über mehrere Jahre weiterlaufen.</a:t>
              </a:r>
              <a:endParaRPr lang="en-US" sz="1300" dirty="0"/>
            </a:p>
          </p:txBody>
        </p:sp>
        <p:sp>
          <p:nvSpPr>
            <p:cNvPr id="9" name="Shape 7"/>
            <p:cNvSpPr/>
            <p:nvPr/>
          </p:nvSpPr>
          <p:spPr>
            <a:xfrm>
              <a:off x="4311396" y="1783080"/>
              <a:ext cx="3566160" cy="2514600"/>
            </a:xfrm>
            <a:prstGeom prst="roundRect">
              <a:avLst>
                <a:gd name="adj" fmla="val 4364"/>
              </a:avLst>
            </a:prstGeom>
            <a:solidFill>
              <a:srgbClr val="EAF6FC"/>
            </a:solidFill>
            <a:ln w="12700">
              <a:solidFill>
                <a:srgbClr val="EAF6FC"/>
              </a:solidFill>
              <a:prstDash val="solid"/>
            </a:ln>
          </p:spPr>
          <p:txBody>
            <a:bodyPr/>
            <a:lstStyle/>
            <a:p>
              <a:endParaRPr lang="de-DE"/>
            </a:p>
          </p:txBody>
        </p:sp>
        <p:sp>
          <p:nvSpPr>
            <p:cNvPr id="10" name="Shape 8"/>
            <p:cNvSpPr/>
            <p:nvPr/>
          </p:nvSpPr>
          <p:spPr>
            <a:xfrm>
              <a:off x="4585716" y="1965960"/>
              <a:ext cx="457200" cy="457200"/>
            </a:xfrm>
            <a:prstGeom prst="ellipse">
              <a:avLst/>
            </a:prstGeom>
            <a:solidFill>
              <a:srgbClr val="0092D5"/>
            </a:solidFill>
            <a:ln w="12700">
              <a:solidFill>
                <a:srgbClr val="0092D5"/>
              </a:solidFill>
              <a:prstDash val="solid"/>
            </a:ln>
          </p:spPr>
          <p:txBody>
            <a:bodyPr/>
            <a:lstStyle/>
            <a:p>
              <a:endParaRPr lang="de-DE"/>
            </a:p>
          </p:txBody>
        </p:sp>
        <p:sp>
          <p:nvSpPr>
            <p:cNvPr id="11" name="Text 9"/>
            <p:cNvSpPr txBox="1"/>
            <p:nvPr/>
          </p:nvSpPr>
          <p:spPr>
            <a:xfrm>
              <a:off x="4585716" y="19659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txBox="1"/>
            <p:nvPr/>
          </p:nvSpPr>
          <p:spPr>
            <a:xfrm>
              <a:off x="4585716" y="2560320"/>
              <a:ext cx="3017520" cy="365760"/>
            </a:xfrm>
            <a:prstGeom prst="rect">
              <a:avLst/>
            </a:prstGeom>
            <a:noFill/>
            <a:ln/>
          </p:spPr>
          <p:txBody>
            <a:bodyPr wrap="square" lIns="0" tIns="0" rIns="0" bIns="0" rtlCol="0" anchor="t"/>
            <a:lstStyle/>
            <a:p>
              <a:pPr marL="0" indent="0">
                <a:buNone/>
              </a:pPr>
              <a:r>
                <a:rPr lang="en-US" sz="1600" b="1" dirty="0">
                  <a:solidFill>
                    <a:srgbClr val="0092D5"/>
                  </a:solidFill>
                  <a:latin typeface="Arial" pitchFamily="34" charset="0"/>
                  <a:ea typeface="Arial" pitchFamily="34" charset="-122"/>
                  <a:cs typeface="Arial" pitchFamily="34" charset="-120"/>
                </a:rPr>
                <a:t>Weitere Daten einbeziehen</a:t>
              </a:r>
              <a:endParaRPr lang="en-US" sz="1600" dirty="0"/>
            </a:p>
          </p:txBody>
        </p:sp>
        <p:sp>
          <p:nvSpPr>
            <p:cNvPr id="13" name="Text 11"/>
            <p:cNvSpPr txBox="1"/>
            <p:nvPr/>
          </p:nvSpPr>
          <p:spPr>
            <a:xfrm>
              <a:off x="4585716" y="2971800"/>
              <a:ext cx="3017520" cy="1234440"/>
            </a:xfrm>
            <a:prstGeom prst="rect">
              <a:avLst/>
            </a:prstGeom>
            <a:noFill/>
            <a:ln/>
          </p:spPr>
          <p:txBody>
            <a:bodyPr wrap="square" lIns="0" tIns="0" rIns="0" bIns="0" rtlCol="0" anchor="t"/>
            <a:lstStyle/>
            <a:p>
              <a:pPr marL="0" indent="0">
                <a:buNone/>
              </a:pPr>
              <a:r>
                <a:rPr lang="en-US" sz="1300" dirty="0">
                  <a:solidFill>
                    <a:srgbClr val="3D4750"/>
                  </a:solidFill>
                  <a:latin typeface="Calibri" pitchFamily="34" charset="0"/>
                  <a:ea typeface="Calibri" pitchFamily="34" charset="-122"/>
                  <a:cs typeface="Calibri" pitchFamily="34" charset="-120"/>
                </a:rPr>
                <a:t>Bodenbeschaffenheit, Verdunstung, Temperatur und Versickerung von Regenwasser helfen zu verstehen, warum das Grundwasser an manchen Tagen stärker reagiert.</a:t>
              </a:r>
              <a:endParaRPr lang="en-US" sz="1300" dirty="0"/>
            </a:p>
          </p:txBody>
        </p:sp>
        <p:sp>
          <p:nvSpPr>
            <p:cNvPr id="14" name="Shape 12"/>
            <p:cNvSpPr/>
            <p:nvPr/>
          </p:nvSpPr>
          <p:spPr>
            <a:xfrm>
              <a:off x="8074152" y="1783080"/>
              <a:ext cx="3566160" cy="2514600"/>
            </a:xfrm>
            <a:prstGeom prst="roundRect">
              <a:avLst>
                <a:gd name="adj" fmla="val 4364"/>
              </a:avLst>
            </a:prstGeom>
            <a:solidFill>
              <a:srgbClr val="EAF6FC"/>
            </a:solidFill>
            <a:ln w="12700">
              <a:solidFill>
                <a:srgbClr val="EAF6FC"/>
              </a:solidFill>
              <a:prstDash val="solid"/>
            </a:ln>
          </p:spPr>
          <p:txBody>
            <a:bodyPr/>
            <a:lstStyle/>
            <a:p>
              <a:endParaRPr lang="de-DE"/>
            </a:p>
          </p:txBody>
        </p:sp>
        <p:sp>
          <p:nvSpPr>
            <p:cNvPr id="15" name="Shape 13"/>
            <p:cNvSpPr/>
            <p:nvPr/>
          </p:nvSpPr>
          <p:spPr>
            <a:xfrm>
              <a:off x="8348472" y="1965960"/>
              <a:ext cx="457200" cy="457200"/>
            </a:xfrm>
            <a:prstGeom prst="ellipse">
              <a:avLst/>
            </a:prstGeom>
            <a:solidFill>
              <a:srgbClr val="0092D5"/>
            </a:solidFill>
            <a:ln w="12700">
              <a:solidFill>
                <a:srgbClr val="0092D5"/>
              </a:solidFill>
              <a:prstDash val="solid"/>
            </a:ln>
          </p:spPr>
          <p:txBody>
            <a:bodyPr/>
            <a:lstStyle/>
            <a:p>
              <a:endParaRPr lang="de-DE"/>
            </a:p>
          </p:txBody>
        </p:sp>
        <p:sp>
          <p:nvSpPr>
            <p:cNvPr id="16" name="Text 14"/>
            <p:cNvSpPr txBox="1"/>
            <p:nvPr/>
          </p:nvSpPr>
          <p:spPr>
            <a:xfrm>
              <a:off x="8348472" y="19659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txBox="1"/>
            <p:nvPr/>
          </p:nvSpPr>
          <p:spPr>
            <a:xfrm>
              <a:off x="8348472" y="2560320"/>
              <a:ext cx="3017520" cy="365760"/>
            </a:xfrm>
            <a:prstGeom prst="rect">
              <a:avLst/>
            </a:prstGeom>
            <a:noFill/>
            <a:ln/>
          </p:spPr>
          <p:txBody>
            <a:bodyPr wrap="square" lIns="0" tIns="0" rIns="0" bIns="0" rtlCol="0" anchor="t"/>
            <a:lstStyle/>
            <a:p>
              <a:pPr marL="0" indent="0">
                <a:buNone/>
              </a:pPr>
              <a:r>
                <a:rPr lang="en-US" sz="1600" b="1" dirty="0">
                  <a:solidFill>
                    <a:srgbClr val="0092D5"/>
                  </a:solidFill>
                  <a:latin typeface="Arial" pitchFamily="34" charset="0"/>
                  <a:ea typeface="Arial" pitchFamily="34" charset="-122"/>
                  <a:cs typeface="Arial" pitchFamily="34" charset="-120"/>
                </a:rPr>
                <a:t>Den Wandel sichtbar machen</a:t>
              </a:r>
              <a:endParaRPr lang="en-US" sz="1600" dirty="0"/>
            </a:p>
          </p:txBody>
        </p:sp>
        <p:sp>
          <p:nvSpPr>
            <p:cNvPr id="18" name="Text 16"/>
            <p:cNvSpPr txBox="1"/>
            <p:nvPr/>
          </p:nvSpPr>
          <p:spPr>
            <a:xfrm>
              <a:off x="8348472" y="2971800"/>
              <a:ext cx="3017520" cy="1234440"/>
            </a:xfrm>
            <a:prstGeom prst="rect">
              <a:avLst/>
            </a:prstGeom>
            <a:noFill/>
            <a:ln/>
          </p:spPr>
          <p:txBody>
            <a:bodyPr wrap="square" lIns="0" tIns="0" rIns="0" bIns="0" rtlCol="0" anchor="t"/>
            <a:lstStyle/>
            <a:p>
              <a:pPr marL="0" indent="0">
                <a:buNone/>
              </a:pPr>
              <a:r>
                <a:rPr lang="en-US" sz="1300" dirty="0">
                  <a:solidFill>
                    <a:srgbClr val="3D4750"/>
                  </a:solidFill>
                  <a:latin typeface="Calibri" pitchFamily="34" charset="0"/>
                  <a:ea typeface="Calibri" pitchFamily="34" charset="-122"/>
                  <a:cs typeface="Calibri" pitchFamily="34" charset="-120"/>
                </a:rPr>
                <a:t>Langfristige Messungen können zeigen, wie neue Grünflächen, Gebäude und Maßnahmen zur Regenwasserversickerung den Wasserhaushalt verändern.</a:t>
              </a:r>
              <a:endParaRPr lang="en-US" sz="1300" dirty="0"/>
            </a:p>
          </p:txBody>
        </p:sp>
      </p:grpSp>
      <p:sp>
        <p:nvSpPr>
          <p:cNvPr id="19" name="Shape 17"/>
          <p:cNvSpPr/>
          <p:nvPr/>
        </p:nvSpPr>
        <p:spPr>
          <a:xfrm>
            <a:off x="548640" y="4526280"/>
            <a:ext cx="11091672" cy="1691640"/>
          </a:xfrm>
          <a:prstGeom prst="roundRect">
            <a:avLst>
              <a:gd name="adj" fmla="val 6486"/>
            </a:avLst>
          </a:prstGeom>
          <a:solidFill>
            <a:schemeClr val="bg1"/>
          </a:solidFill>
          <a:ln w="12700">
            <a:solidFill>
              <a:srgbClr val="0092D5"/>
            </a:solidFill>
            <a:prstDash val="solid"/>
          </a:ln>
        </p:spPr>
        <p:txBody>
          <a:bodyPr/>
          <a:lstStyle/>
          <a:p>
            <a:endParaRPr lang="de-DE"/>
          </a:p>
        </p:txBody>
      </p:sp>
      <p:sp>
        <p:nvSpPr>
          <p:cNvPr id="20" name="Text 18"/>
          <p:cNvSpPr txBox="1"/>
          <p:nvPr/>
        </p:nvSpPr>
        <p:spPr>
          <a:xfrm>
            <a:off x="914400" y="4681728"/>
            <a:ext cx="7315200" cy="274320"/>
          </a:xfrm>
          <a:prstGeom prst="rect">
            <a:avLst/>
          </a:prstGeom>
          <a:noFill/>
          <a:ln/>
        </p:spPr>
        <p:txBody>
          <a:bodyPr wrap="square" lIns="0" tIns="0" rIns="0" bIns="0" rtlCol="0" anchor="t"/>
          <a:lstStyle/>
          <a:p>
            <a:pPr marL="0" indent="0">
              <a:buNone/>
            </a:pPr>
            <a:r>
              <a:rPr lang="en-US" sz="1200" b="1" kern="0" spc="300" dirty="0">
                <a:solidFill>
                  <a:srgbClr val="00B0F0"/>
                </a:solidFill>
                <a:latin typeface="Calibri" pitchFamily="34" charset="0"/>
                <a:ea typeface="Calibri" pitchFamily="34" charset="-122"/>
                <a:cs typeface="Calibri" pitchFamily="34" charset="-120"/>
              </a:rPr>
              <a:t>ZENTRALE FRAGE FÜR DIE ZUKUNFT</a:t>
            </a:r>
            <a:endParaRPr lang="en-US" sz="1200" dirty="0">
              <a:solidFill>
                <a:srgbClr val="00B0F0"/>
              </a:solidFill>
            </a:endParaRPr>
          </a:p>
        </p:txBody>
      </p:sp>
      <p:sp>
        <p:nvSpPr>
          <p:cNvPr id="21" name="Text 19"/>
          <p:cNvSpPr txBox="1"/>
          <p:nvPr/>
        </p:nvSpPr>
        <p:spPr>
          <a:xfrm>
            <a:off x="914400" y="4983480"/>
            <a:ext cx="10360152" cy="1097280"/>
          </a:xfrm>
          <a:prstGeom prst="rect">
            <a:avLst/>
          </a:prstGeom>
          <a:noFill/>
          <a:ln/>
        </p:spPr>
        <p:txBody>
          <a:bodyPr wrap="square" lIns="0" tIns="0" rIns="0" bIns="0" rtlCol="0" anchor="t"/>
          <a:lstStyle/>
          <a:p>
            <a:pPr marL="0" indent="0">
              <a:buNone/>
            </a:pPr>
            <a:r>
              <a:rPr lang="en-US" sz="1900" i="1" dirty="0">
                <a:latin typeface="Arial" pitchFamily="34" charset="0"/>
                <a:ea typeface="Arial" pitchFamily="34" charset="-122"/>
                <a:cs typeface="Arial" pitchFamily="34" charset="-120"/>
              </a:rPr>
              <a:t>Wie kann Regenwasser in Tegel so genutzt und gespeichert werden, dass es </a:t>
            </a:r>
            <a:r>
              <a:rPr lang="en-US" sz="1900" b="1" i="1" dirty="0">
                <a:latin typeface="Arial" pitchFamily="34" charset="0"/>
                <a:ea typeface="Arial" pitchFamily="34" charset="-122"/>
                <a:cs typeface="Arial" pitchFamily="34" charset="-120"/>
              </a:rPr>
              <a:t>sowohl bei Starkregen als auch in trockenen Zeiten </a:t>
            </a:r>
            <a:r>
              <a:rPr lang="en-US" sz="1900" i="1" dirty="0">
                <a:latin typeface="Arial" pitchFamily="34" charset="0"/>
                <a:ea typeface="Arial" pitchFamily="34" charset="-122"/>
                <a:cs typeface="Arial" pitchFamily="34" charset="-120"/>
              </a:rPr>
              <a:t>zu einem möglichst ausgeglichenen Wasserhaushalt beiträgt?</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C:/Users/huyenp/Desktop/01 Huyen/02 Schulungen/01 University/02 HTW/Bigdata/final/tegel-scrollytelling/img/aerial-2019-see.jpg"/>
          <p:cNvPicPr>
            <a:picLocks noChangeAspect="1"/>
          </p:cNvPicPr>
          <p:nvPr/>
        </p:nvPicPr>
        <p:blipFill>
          <a:blip r:embed="rId3"/>
          <a:srcRect/>
          <a:stretch/>
        </p:blipFill>
        <p:spPr>
          <a:xfrm>
            <a:off x="0" y="0"/>
            <a:ext cx="5120640" cy="6858000"/>
          </a:xfrm>
          <a:prstGeom prst="rect">
            <a:avLst/>
          </a:prstGeom>
        </p:spPr>
      </p:pic>
      <p:sp>
        <p:nvSpPr>
          <p:cNvPr id="3" name="Text 0"/>
          <p:cNvSpPr txBox="1"/>
          <p:nvPr/>
        </p:nvSpPr>
        <p:spPr>
          <a:xfrm>
            <a:off x="182880" y="6492240"/>
            <a:ext cx="4754880" cy="228600"/>
          </a:xfrm>
          <a:prstGeom prst="rect">
            <a:avLst/>
          </a:prstGeom>
          <a:noFill/>
          <a:ln/>
        </p:spPr>
        <p:txBody>
          <a:bodyPr wrap="square" lIns="0" tIns="0" rIns="0" bIns="0" rtlCol="0" anchor="t"/>
          <a:lstStyle/>
          <a:p>
            <a:pPr marL="0" indent="0">
              <a:buNone/>
            </a:pPr>
            <a:r>
              <a:rPr lang="en-US" sz="900" dirty="0">
                <a:solidFill>
                  <a:srgbClr val="FFFFFF"/>
                </a:solidFill>
                <a:latin typeface="Calibri" pitchFamily="34" charset="0"/>
                <a:ea typeface="Calibri" pitchFamily="34" charset="-122"/>
                <a:cs typeface="Calibri" pitchFamily="34" charset="-120"/>
              </a:rPr>
              <a:t>Foto: Berlinschneid, 2019, Wikimedia Commons, CC BY-SA 4.0</a:t>
            </a:r>
            <a:endParaRPr lang="en-US" sz="900" dirty="0"/>
          </a:p>
        </p:txBody>
      </p:sp>
      <p:sp>
        <p:nvSpPr>
          <p:cNvPr id="4" name="Text 1"/>
          <p:cNvSpPr txBox="1"/>
          <p:nvPr/>
        </p:nvSpPr>
        <p:spPr>
          <a:xfrm>
            <a:off x="5760720" y="1737360"/>
            <a:ext cx="5879592" cy="2377440"/>
          </a:xfrm>
          <a:prstGeom prst="rect">
            <a:avLst/>
          </a:prstGeom>
          <a:noFill/>
          <a:ln/>
        </p:spPr>
        <p:txBody>
          <a:bodyPr wrap="square" lIns="0" tIns="0" rIns="0" bIns="0" rtlCol="0" anchor="ctr"/>
          <a:lstStyle/>
          <a:p>
            <a:pPr marL="0" indent="0">
              <a:buNone/>
            </a:pPr>
            <a:r>
              <a:rPr lang="en-US" sz="3400" b="1" dirty="0">
                <a:solidFill>
                  <a:srgbClr val="0092D5"/>
                </a:solidFill>
                <a:latin typeface="Arial" pitchFamily="34" charset="0"/>
                <a:ea typeface="Arial" pitchFamily="34" charset="-122"/>
                <a:cs typeface="Arial" pitchFamily="34" charset="-120"/>
              </a:rPr>
              <a:t>Was passiert mit jedem Regentropfen, der in Zukunft auf Berlin-Tegel fällt?</a:t>
            </a:r>
            <a:endParaRPr lang="en-US" sz="3400" dirty="0"/>
          </a:p>
        </p:txBody>
      </p:sp>
      <p:sp>
        <p:nvSpPr>
          <p:cNvPr id="5" name="Shape 2"/>
          <p:cNvSpPr/>
          <p:nvPr/>
        </p:nvSpPr>
        <p:spPr>
          <a:xfrm>
            <a:off x="5760720" y="4572000"/>
            <a:ext cx="3840480" cy="640080"/>
          </a:xfrm>
          <a:prstGeom prst="roundRect">
            <a:avLst>
              <a:gd name="adj" fmla="val 50000"/>
            </a:avLst>
          </a:prstGeom>
          <a:solidFill>
            <a:srgbClr val="9FD6EF"/>
          </a:solidFill>
          <a:ln w="12700">
            <a:solidFill>
              <a:srgbClr val="9FD6EF"/>
            </a:solidFill>
            <a:prstDash val="solid"/>
          </a:ln>
        </p:spPr>
        <p:txBody>
          <a:bodyPr/>
          <a:lstStyle/>
          <a:p>
            <a:endParaRPr lang="de-DE"/>
          </a:p>
        </p:txBody>
      </p:sp>
      <p:sp>
        <p:nvSpPr>
          <p:cNvPr id="6" name="Text 3"/>
          <p:cNvSpPr txBox="1"/>
          <p:nvPr/>
        </p:nvSpPr>
        <p:spPr>
          <a:xfrm>
            <a:off x="5760720" y="4572000"/>
            <a:ext cx="3840480" cy="640080"/>
          </a:xfrm>
          <a:prstGeom prst="rect">
            <a:avLst/>
          </a:prstGeom>
          <a:noFill/>
          <a:ln/>
        </p:spPr>
        <p:txBody>
          <a:bodyPr wrap="square" lIns="0" tIns="0" rIns="0" bIns="0" rtlCol="0" anchor="ctr"/>
          <a:lstStyle/>
          <a:p>
            <a:pPr marL="0" indent="0" algn="ctr">
              <a:buNone/>
            </a:pPr>
            <a:r>
              <a:rPr lang="en-US" sz="2200" b="1" dirty="0">
                <a:solidFill>
                  <a:srgbClr val="15191C"/>
                </a:solidFill>
                <a:latin typeface="Calibri" pitchFamily="34" charset="0"/>
                <a:ea typeface="Calibri" pitchFamily="34" charset="-122"/>
                <a:cs typeface="Calibri" pitchFamily="34" charset="-120"/>
              </a:rPr>
              <a:t>Vielen Dank! Fragen?</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marL="0" indent="0">
              <a:buNone/>
            </a:pPr>
            <a:r>
              <a:rPr lang="en-US" sz="1200" b="1" kern="0" spc="300" dirty="0">
                <a:solidFill>
                  <a:srgbClr val="5E6A74"/>
                </a:solidFill>
                <a:latin typeface="Calibri" pitchFamily="34" charset="0"/>
                <a:ea typeface="Calibri" pitchFamily="34" charset="-122"/>
                <a:cs typeface="Calibri" pitchFamily="34" charset="-120"/>
              </a:rPr>
              <a:t>ANHANG</a:t>
            </a:r>
            <a:endParaRPr lang="en-US" sz="12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marL="0" indent="0">
              <a:buNone/>
            </a:pPr>
            <a:r>
              <a:rPr lang="en-US" sz="3400" b="1" dirty="0">
                <a:solidFill>
                  <a:srgbClr val="15191C"/>
                </a:solidFill>
                <a:latin typeface="Arial" pitchFamily="34" charset="0"/>
                <a:ea typeface="Arial" pitchFamily="34" charset="-122"/>
                <a:cs typeface="Arial" pitchFamily="34" charset="-120"/>
              </a:rPr>
              <a:t>Quellen</a:t>
            </a:r>
            <a:endParaRPr lang="en-US" sz="3400" dirty="0"/>
          </a:p>
        </p:txBody>
      </p:sp>
      <p:sp>
        <p:nvSpPr>
          <p:cNvPr id="4" name="Text 2"/>
          <p:cNvSpPr txBox="1"/>
          <p:nvPr/>
        </p:nvSpPr>
        <p:spPr>
          <a:xfrm>
            <a:off x="548640" y="1737360"/>
            <a:ext cx="11091672" cy="44805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D4750"/>
                </a:solidFill>
                <a:latin typeface="Calibri" pitchFamily="34" charset="0"/>
                <a:ea typeface="Calibri" pitchFamily="34" charset="-122"/>
                <a:cs typeface="Calibri" pitchFamily="34" charset="-120"/>
              </a:rPr>
              <a:t>Daten: Grundwasser je Messstation im Zeitverlauf; Karte mit Grundwasserpegel (FUTR HUB, bereitgestellt); Niederschlag Tegel 2025–2026, HYRAS v6-1 (täglich)</a:t>
            </a:r>
            <a:endParaRPr lang="en-US" sz="1300" dirty="0"/>
          </a:p>
          <a:p>
            <a:pPr marL="342900" indent="-342900">
              <a:spcAft>
                <a:spcPts val="600"/>
              </a:spcAft>
              <a:buSzPct val="100000"/>
              <a:buChar char="•"/>
            </a:pPr>
            <a:r>
              <a:rPr lang="en-US" sz="1300" dirty="0">
                <a:solidFill>
                  <a:srgbClr val="3D4750"/>
                </a:solidFill>
                <a:latin typeface="Calibri" pitchFamily="34" charset="0"/>
                <a:ea typeface="Calibri" pitchFamily="34" charset="-122"/>
                <a:cs typeface="Calibri" pitchFamily="34" charset="-120"/>
              </a:rPr>
              <a:t>Deutscher Wetterdienst: Hydrometeorologischer Rasterdatensatz Niederschlag für Deutschland (HYRAS-DE-PR). dwd.de/DE/leistungen/hyras_de_pr/hyras_de_pr.html</a:t>
            </a:r>
            <a:endParaRPr lang="en-US" sz="1300" dirty="0"/>
          </a:p>
          <a:p>
            <a:pPr marL="342900" indent="-342900">
              <a:spcAft>
                <a:spcPts val="600"/>
              </a:spcAft>
              <a:buSzPct val="100000"/>
              <a:buChar char="•"/>
            </a:pPr>
            <a:r>
              <a:rPr lang="en-US" sz="1300" dirty="0">
                <a:solidFill>
                  <a:srgbClr val="3D4750"/>
                </a:solidFill>
                <a:latin typeface="Calibri" pitchFamily="34" charset="0"/>
                <a:ea typeface="Calibri" pitchFamily="34" charset="-122"/>
                <a:cs typeface="Calibri" pitchFamily="34" charset="-120"/>
              </a:rPr>
              <a:t>FUTR HUB – Innovating Urban Data, Urban Tech Republic. futr-hub.urbantechrepublic.de</a:t>
            </a:r>
            <a:endParaRPr lang="en-US" sz="1300" dirty="0"/>
          </a:p>
          <a:p>
            <a:pPr marL="342900" indent="-342900">
              <a:spcAft>
                <a:spcPts val="600"/>
              </a:spcAft>
              <a:buSzPct val="100000"/>
              <a:buChar char="•"/>
            </a:pPr>
            <a:r>
              <a:rPr lang="en-US" sz="1300" dirty="0">
                <a:solidFill>
                  <a:srgbClr val="3D4750"/>
                </a:solidFill>
                <a:latin typeface="Calibri" pitchFamily="34" charset="0"/>
                <a:ea typeface="Calibri" pitchFamily="34" charset="-122"/>
                <a:cs typeface="Calibri" pitchFamily="34" charset="-120"/>
              </a:rPr>
              <a:t>Berlin TXL Management GmbH: „Über uns“. tegelprojekt.de/ueber-uns/</a:t>
            </a:r>
            <a:endParaRPr lang="en-US" sz="1300" dirty="0"/>
          </a:p>
          <a:p>
            <a:pPr marL="342900" indent="-342900">
              <a:spcAft>
                <a:spcPts val="600"/>
              </a:spcAft>
              <a:buSzPct val="100000"/>
              <a:buChar char="•"/>
            </a:pPr>
            <a:r>
              <a:rPr lang="en-US" sz="1300" dirty="0">
                <a:solidFill>
                  <a:srgbClr val="3D4750"/>
                </a:solidFill>
                <a:latin typeface="Calibri" pitchFamily="34" charset="0"/>
                <a:ea typeface="Calibri" pitchFamily="34" charset="-122"/>
                <a:cs typeface="Calibri" pitchFamily="34" charset="-120"/>
              </a:rPr>
              <a:t>SenStadt Berlin: „Startschuss für Wohnungsbau im Schumacher Quartier“, PM vom 31.01.2025. berlin.de/sen/stadt/presse/pressemeldungen/pressemitteilung.1526943.php</a:t>
            </a:r>
            <a:endParaRPr lang="en-US" sz="1300" dirty="0"/>
          </a:p>
          <a:p>
            <a:pPr marL="342900" indent="-342900">
              <a:spcAft>
                <a:spcPts val="600"/>
              </a:spcAft>
              <a:buSzPct val="100000"/>
              <a:buChar char="•"/>
            </a:pPr>
            <a:r>
              <a:rPr lang="en-US" sz="1300" dirty="0">
                <a:solidFill>
                  <a:srgbClr val="3D4750"/>
                </a:solidFill>
                <a:latin typeface="Calibri" pitchFamily="34" charset="0"/>
                <a:ea typeface="Calibri" pitchFamily="34" charset="-122"/>
                <a:cs typeface="Calibri" pitchFamily="34" charset="-120"/>
              </a:rPr>
              <a:t>Schumacher Quartier: „Wassernutzung“. schumacher-quartier.de/wassernutzung/</a:t>
            </a:r>
            <a:endParaRPr lang="en-US" sz="1300" dirty="0"/>
          </a:p>
          <a:p>
            <a:pPr marL="342900" indent="-342900">
              <a:spcAft>
                <a:spcPts val="600"/>
              </a:spcAft>
              <a:buSzPct val="100000"/>
              <a:buChar char="•"/>
            </a:pPr>
            <a:r>
              <a:rPr lang="en-US" sz="1300" dirty="0">
                <a:solidFill>
                  <a:srgbClr val="3D4750"/>
                </a:solidFill>
                <a:latin typeface="Calibri" pitchFamily="34" charset="0"/>
                <a:ea typeface="Calibri" pitchFamily="34" charset="-122"/>
                <a:cs typeface="Calibri" pitchFamily="34" charset="-120"/>
              </a:rPr>
              <a:t>Schumacher Quartier: „Startschuss für die ersten Wohnungen im Schumacher Quartier“, 07.09.2026</a:t>
            </a:r>
            <a:endParaRPr lang="en-US" sz="1300" dirty="0"/>
          </a:p>
          <a:p>
            <a:pPr marL="342900" indent="-342900">
              <a:spcAft>
                <a:spcPts val="600"/>
              </a:spcAft>
              <a:buSzPct val="100000"/>
              <a:buChar char="•"/>
            </a:pPr>
            <a:r>
              <a:rPr lang="en-US" sz="1300" dirty="0">
                <a:solidFill>
                  <a:srgbClr val="3D4750"/>
                </a:solidFill>
                <a:latin typeface="Calibri" pitchFamily="34" charset="0"/>
                <a:ea typeface="Calibri" pitchFamily="34" charset="-122"/>
                <a:cs typeface="Calibri" pitchFamily="34" charset="-120"/>
              </a:rPr>
              <a:t>SenStadt Berlin: Umweltatlas 02.07 Flurabstand des Grundwassers (2008)</a:t>
            </a:r>
            <a:endParaRPr lang="en-US" sz="1300" dirty="0"/>
          </a:p>
          <a:p>
            <a:pPr marL="342900" indent="-342900">
              <a:spcAft>
                <a:spcPts val="600"/>
              </a:spcAft>
              <a:buSzPct val="100000"/>
              <a:buChar char="•"/>
            </a:pPr>
            <a:r>
              <a:rPr lang="en-US" sz="1300" dirty="0">
                <a:solidFill>
                  <a:srgbClr val="3D4750"/>
                </a:solidFill>
                <a:latin typeface="Calibri" pitchFamily="34" charset="0"/>
                <a:ea typeface="Calibri" pitchFamily="34" charset="-122"/>
                <a:cs typeface="Calibri" pitchFamily="34" charset="-120"/>
              </a:rPr>
              <a:t>Fotos: Rehman Abubakr (2019), Orderinchaos (2015), Dirk1981 (2022), Berlinschneid (2019) – Wikimedia Commons, CC BY-SA 4.0</a:t>
            </a:r>
            <a:endParaRPr lang="en-US" sz="1300" dirty="0"/>
          </a:p>
        </p:txBody>
      </p:sp>
      <p:sp>
        <p:nvSpPr>
          <p:cNvPr id="5" name="Text 3"/>
          <p:cNvSpPr txBox="1"/>
          <p:nvPr/>
        </p:nvSpPr>
        <p:spPr>
          <a:xfrm>
            <a:off x="548640" y="6446520"/>
            <a:ext cx="11091672" cy="274320"/>
          </a:xfrm>
          <a:prstGeom prst="rect">
            <a:avLst/>
          </a:prstGeom>
          <a:noFill/>
          <a:ln/>
        </p:spPr>
        <p:txBody>
          <a:bodyPr wrap="square" lIns="0" tIns="0" rIns="0" bIns="0" rtlCol="0" anchor="t"/>
          <a:lstStyle/>
          <a:p>
            <a:pPr marL="0" indent="0">
              <a:buNone/>
            </a:pPr>
            <a:r>
              <a:rPr lang="en-US" sz="950" dirty="0">
                <a:solidFill>
                  <a:srgbClr val="5E6A74"/>
                </a:solidFill>
                <a:latin typeface="Calibri" pitchFamily="34" charset="0"/>
                <a:ea typeface="Calibri" pitchFamily="34" charset="-122"/>
                <a:cs typeface="Calibri" pitchFamily="34" charset="-120"/>
              </a:rPr>
              <a:t>Alle Online-Quellen abgerufen am 23.09.2026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1283</Words>
  <Application>Microsoft Office PowerPoint</Application>
  <PresentationFormat>Breitbild</PresentationFormat>
  <Paragraphs>114</Paragraphs>
  <Slides>8</Slides>
  <Notes>8</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8</vt:i4>
      </vt:variant>
    </vt:vector>
  </HeadingPairs>
  <TitlesOfParts>
    <vt:vector size="11" baseType="lpstr">
      <vt:lpstr>Arial</vt:lpstr>
      <vt:lpstr>Calibri</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Vom Rollfeld zur Schwammstadt</dc:title>
  <dc:subject>PptxGenJS Presentation</dc:subject>
  <dc:creator>PptxGenJS</dc:creator>
  <cp:lastModifiedBy>Desiree Possi</cp:lastModifiedBy>
  <cp:revision>6</cp:revision>
  <dcterms:created xsi:type="dcterms:W3CDTF">2026-09-23T15:44:48Z</dcterms:created>
  <dcterms:modified xsi:type="dcterms:W3CDTF">2026-09-23T16:47:09Z</dcterms:modified>
</cp:coreProperties>
</file>